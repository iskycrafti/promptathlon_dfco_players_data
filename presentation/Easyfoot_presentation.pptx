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b0eeeb3-07c1-9518-7c97-483a5de4c39d}">
          <p14:sldIdLst>
            <p14:sldId id="256"/>
          </p14:sldIdLst>
        </p14:section>
        <p14:section name="Problème" id="{2176a6f8-ade6-b5a5-5951-422b97668f85}">
          <p14:sldIdLst>
            <p14:sldId id="257"/>
          </p14:sldIdLst>
        </p14:section>
        <p14:section name="Solution" id="{25dc4d09-cebb-ae1d-afcc-277d6b2ffc14}">
          <p14:sldIdLst>
            <p14:sldId id="258"/>
          </p14:sldIdLst>
        </p14:section>
        <p14:section name="Démonstration" id="{3a0ced9f-2f55-12ed-8906-a4e69fdc5461}">
          <p14:sldIdLst>
            <p14:sldId id="259"/>
            <p14:sldId id="260"/>
            <p14:sldId id="261"/>
            <p14:sldId id="262"/>
          </p14:sldIdLst>
        </p14:section>
        <p14:section name="Finance" id="{96c86411-2b29-a308-65b5-7bb9be54110a}">
          <p14:sldIdLst>
            <p14:sldId id="263"/>
            <p14:sldId id="264"/>
          </p14:sldIdLst>
        </p14:section>
        <p14:section name="Communication" id="{d76c90f8-882b-8922-2f93-48f1bd698aab}">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[Matthieu · 0:00 → durée 0:15]
Bonjour à toutes et à tous. Nous sommes Axel, Florian, Arvind et moi, Matthieu. Nous allons vous présenter Easyfoot : la plateforme qui aide le staff du DFCO à décider plus tôt, et mieux.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[Matthieu · 0:15 → durée 1:00]
Le DFCO veut être un club avant-gardiste sur l'IA. Mais au quotidien, la réalité, c'est celle-ci : les fiches joueurs, les données GPS, les matchs, le suivi médical vivent dans des outils séparés. Résultat, quatre problèmes. Un : personne n'a la vue d'ensemble. Deux : une surcharge ou une gêne est repérée trop tard, parce que personne ne croise les données. Trois : le recrutement prend un temps fou, on compare des dizaines de profils à la main, sans critères communs par poste. Quatre : le joueur lui-même est hors de la boucle. Il ne voit pas sa charge, et son ressenti ne remonte pas au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[Matthieu · 1:15 → durée 0:45]
Notre réponse s'appelle Easyfoot. Une seule plateforme, six briques : la fiche joueur centralisée ; la détection de recrues par profil de poste ; la comparaison jeunes contre professionnels ; le suivi physique et la réathlétisation ; un espace pour le joueur ; et l'agrégation des données du coach. Ce que vous allez voir n'est pas une maquette : c'est l'application actuelle. Axel va vous la montrer.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[Axel · 2:00 → durée 1:15]
Voici le tableau de bord que le coach ouvre avant la séance. En haut : 19 joueurs disponibles sur 30, 20 joueurs à examiner, 6 retours de blessure. À gauche, le onze type en 4-3-3, construit automatiquement avec les joueurs disponibles. À droite, ce qu'il faut examiner en priorité. Et un clic sur un joueur ouvre sa fiche centralisée : poste, notes FC 27, minutes jouées, GPS, historique de suivi et indice de forme du jour. Plus besoin d'ouvrir cinq outils pour savoir où en est Adel Lembezat. Un point d'honnêteté : les notes FC 27 sont réelles, mais la santé, le GPS et les matchs sont des données de démonstration. Demain, ce sont vos sources que nous branchons.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[Axel · 3:15 → durée 1:15]
Deuxième usage : le recrutement. Le staff définit un profil par poste, par exemple un défenseur central relanceur, en donnant à chaque critère une importance de zéro à trois. Easyfoot classe les 60 prospects suivis selon leur adéquation et les compare à l'effectif : ici, Milos Degenek arrive en tête avec 67,6, soit 1,8 point de plus que la référence de l'effectif. Pour la formation, l'outil compare un jeune à un professionnel du même poste. Moussa Faty, 18 ans, arrière gauche, a 83 % de similarité de style avec Ismaïl Bouleghcha, et trois axes de progression chiffrés : jeu de tête, détente, lucidité défensive. Un plan de progression concret, pas une impression.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[Florian · 4:30 → durée 1:00]
Je prends le suivi physique. Pour chaque joueur, Easyfoot compare la charge des sept derniers jours à sa moyenne hebdomadaire sur 28 jours : c'est le ratio aigu/chronique. Entre 0,8 et 1,3, on est dans la zone optimale ; au-dessus de 1,5, c'est une surcharge. Aujourd'hui, trois joueurs sont en surcharge, avec un ratio entre 1,6 et 1,74 : le staff les voit tout de suite. L'outil ne décide pas, il signale : 17 situations à examiner. À droite, le suivi des retours de blessure : soins, travail individuel, reprise adaptée, retour à valider, avec la date de retour prévue. Samy Chouchane, par exemple, est à J-8. Le médecin et le préparateur parlent enfin de la même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[Florian · 5:30 → durée 1:00]
Dernière brique : relier le joueur et le coach. Le joueur a son espace : sa charge de la semaine, sa forme, ses objectifs par rapport à un modèle de son poste, et un bilan du jour (fatigue, gêne, effort perçu) qu'il partage en quelques secondes. Quand Adel signale une gêne de 4 sur 10, le staff la voit remonter dans ses signaux. Côté coach, tout est agrégé dans le tableau de bord : signaux prioritaires, retours attendus, derniers bilans du staff et des joueurs, pistes de recrutement. Le même socle de données pour tout le monde. Et techniquement, c'est une application web avec une API : elle se branche aux outils du club. Arvind, à toi pour le volet financier.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[Arvind · 6:30 → durée 1:00]
Thank you, Florian. Let me walk you through the financial side. First, the cost structure, which is deliberately lean. The product is already built: a web application and an API, running on an open-source stack, so there are no software licence fees. Three cost lines remain. Build, which is already delivered. Run: hosting, maintenance and support. And data: integrating the club's own GPS and medical sources, and checking the licence for the FC 27 attribute data. [Give the final figure for each line here.] On the revenue side, we propose a simple model: an annual club licence, plus a one-off onboarding fee. [State the amounts here.] It is easy for the club to budget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[Arvind · 7:30 → durée 1:00]
Now, what does the club get in return? Three levers. First, fewer injury days: spotting overload early lets the staff adjust the load before it turns into an injury. Second, faster and better recruitment: ranking prospects by fit saves scouting hours and reduces the risk of a wrong signing. Third, time saved: one source of truth means far less manual data entry. The logic is simple: annual value, minus annual cost, gives the net return, and the break-even point is [N] months. [Give the final figures here.] Over to Florian for a word on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[Florian · 8:30 → durée 0:45]
Pour terminer, un mot sur la communication. Easyfoot n'est pas un outil de plus : c'est ce qui permet de mutualiser les outils techniques de l'équipe. GPS, suivi médical, scouting, vidéo, notes du staff : au lieu d'outils qui ne se parlent pas, un seul référentiel. Mêmes indicateurs, mêmes alertes pour le coach, la préparation physique, le médical, le recrutement, le centre de formation et les joueurs. Moins de ressaisies, moins de malentendus, des décisions que tout le monde peut expliquer. C'est ça, la plus-value : on ne remplace pas les experts, on les aligne. Matthieu, pour conclure.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[Matthieu · 9:15 → durée 0:45]
Pour résumer : un problème réel, des données éparpillées ; une solution qui existe déjà et qui fonctionne ; et un modèle économique simple, comme Arvind vient de vous le montrer. La suite que nous vous proposons : brancher vos sources réelles (GPS, médical, matchs), lancer un pilote avec le staff, puis ouvrir l'espace aux joueurs. Merci de votre attention, nous sommes prêts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F_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1"/>
          </a:solidFill>
          <a:ln/>
        </p:spPr>
      </p:sp>
      <p:pic>
        <p:nvPicPr>
          <p:cNvPr id="3" name="Image 0" descr="assets/logo-white.png">    </p:cNvPr>
          <p:cNvPicPr>
            <a:picLocks noChangeAspect="1"/>
          </p:cNvPicPr>
          <p:nvPr/>
        </p:nvPicPr>
        <p:blipFill>
          <a:blip r:embed="rId1"/>
          <a:stretch>
            <a:fillRect/>
          </a:stretch>
        </p:blipFill>
        <p:spPr>
          <a:xfrm>
            <a:off x="731520" y="640080"/>
            <a:ext cx="2011680" cy="525780"/>
          </a:xfrm>
          <a:prstGeom prst="rect">
            <a:avLst/>
          </a:prstGeom>
        </p:spPr>
      </p:pic>
      <p:sp>
        <p:nvSpPr>
          <p:cNvPr id="4" name="Text 1"/>
          <p:cNvSpPr/>
          <p:nvPr>
            <p:ph idx="102" type="title" hasCustomPrompt="1"/>
          </p:nvPr>
        </p:nvSpPr>
        <p:spPr>
          <a:xfrm>
            <a:off x="731520" y="1828800"/>
            <a:ext cx="5669280" cy="21945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5" name="Text 1"/>
          <p:cNvSpPr/>
          <p:nvPr>
            <p:ph idx="103" type="body" hasCustomPrompt="1"/>
          </p:nvPr>
        </p:nvSpPr>
        <p:spPr>
          <a:xfrm>
            <a:off x="731520" y="4160520"/>
            <a:ext cx="5486400" cy="91440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F_CONTENT">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bg2"/>
          </a:solidFill>
          <a:ln/>
        </p:spPr>
      </p:sp>
      <p:pic>
        <p:nvPicPr>
          <p:cNvPr id="3" name="Image 0" descr="assets/logo.png">    </p:cNvPr>
          <p:cNvPicPr>
            <a:picLocks noChangeAspect="1"/>
          </p:cNvPicPr>
          <p:nvPr/>
        </p:nvPicPr>
        <p:blipFill>
          <a:blip r:embed="rId1"/>
          <a:stretch>
            <a:fillRect/>
          </a:stretch>
        </p:blipFill>
        <p:spPr>
          <a:xfrm>
            <a:off x="548640" y="6382512"/>
            <a:ext cx="1005840" cy="262433"/>
          </a:xfrm>
          <a:prstGeom prst="rect">
            <a:avLst/>
          </a:prstGeom>
        </p:spPr>
      </p:pic>
      <p:sp>
        <p:nvSpPr>
          <p:cNvPr id="4" name="Text 1"/>
          <p:cNvSpPr/>
          <p:nvPr>
            <p:ph idx="102" type="body" hasCustomPrompt="1"/>
          </p:nvPr>
        </p:nvSpPr>
        <p:spPr>
          <a:xfrm>
            <a:off x="548640" y="384048"/>
            <a:ext cx="8229600" cy="274320"/>
          </a:xfrm>
          <a:prstGeom prst="rect">
            <a:avLst/>
          </a:prstGeom>
          <a:noFill/>
          <a:ln/>
        </p:spPr>
        <p:txBody>
          <a:bodyPr wrap="square" rtlCol="0"/>
          <a:lstStyle>
            <a:lvl1pPr algn="l" indent="0" marL="0">
              <a:buNone/>
              <a:defRPr lang="en-US" sz="1300" b="1" spc="200" kern="0" dirty="0">
                <a:solidFill>
                  <a:schemeClr val="accent1"/>
                </a:solidFill>
              </a:defRPr>
            </a:lvl1pPr>
          </a:lstStyle>
          <a:p>
            <a:pPr algn="l" indent="0" marL="0">
              <a:buNone/>
            </a:pPr>
            <a:endParaRPr lang="en-US" sz="1300" dirty="0"/>
          </a:p>
        </p:txBody>
      </p:sp>
      <p:sp>
        <p:nvSpPr>
          <p:cNvPr id="5" name="Text 1"/>
          <p:cNvSpPr/>
          <p:nvPr>
            <p:ph idx="103" type="title" hasCustomPrompt="1"/>
          </p:nvPr>
        </p:nvSpPr>
        <p:spPr>
          <a:xfrm>
            <a:off x="548640" y="68580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64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646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731520" y="1828800"/>
            <a:ext cx="5669280" cy="2194560"/>
          </a:xfrm>
          <a:prstGeom prst="rect">
            <a:avLst/>
          </a:prstGeom>
          <a:noFill/>
          <a:ln/>
        </p:spPr>
        <p:txBody>
          <a:bodyPr wrap="square" lIns="0" tIns="0" rIns="0" bIns="0" rtlCol="0" anchor="t"/>
          <a:lstStyle/>
          <a:p>
            <a:pPr algn="l" indent="0" marL="0">
              <a:buNone/>
            </a:pPr>
            <a:r>
              <a:rPr lang="en-US" sz="4600" b="1" dirty="0">
                <a:solidFill>
                  <a:schemeClr val="bg1"/>
                </a:solidFill>
              </a:rPr>
              <a:t>Décider plus tôt, ensemble.</a:t>
            </a:r>
            <a:endParaRPr lang="en-US" sz="4600" dirty="0"/>
          </a:p>
        </p:txBody>
      </p:sp>
      <p:sp>
        <p:nvSpPr>
          <p:cNvPr id="3" name="Text 1"/>
          <p:cNvSpPr/>
          <p:nvPr>
            <p:ph idx="103" type="body" hasCustomPrompt="1"/>
          </p:nvPr>
        </p:nvSpPr>
        <p:spPr>
          <a:xfrm>
            <a:off x="731520" y="4160520"/>
            <a:ext cx="5486400" cy="914400"/>
          </a:xfrm>
          <a:prstGeom prst="rect">
            <a:avLst/>
          </a:prstGeom>
          <a:noFill/>
          <a:ln/>
        </p:spPr>
        <p:txBody>
          <a:bodyPr wrap="square" lIns="0" tIns="0" rIns="0" bIns="0" rtlCol="0" anchor="t"/>
          <a:lstStyle/>
          <a:p>
            <a:pPr algn="l" indent="0" marL="0">
              <a:buNone/>
            </a:pPr>
            <a:r>
              <a:rPr lang="en-US" sz="2000" dirty="0">
                <a:solidFill>
                  <a:schemeClr val="bg1"/>
                </a:solidFill>
              </a:rPr>
              <a:t>Easyfoot, la plateforme IA du staff et des joueurs du DFCO</a:t>
            </a:r>
            <a:endParaRPr lang="en-US" sz="2000" dirty="0"/>
          </a:p>
        </p:txBody>
      </p:sp>
      <p:sp>
        <p:nvSpPr>
          <p:cNvPr id="4" name="Text 2"/>
          <p:cNvSpPr txBox="1"/>
          <p:nvPr/>
        </p:nvSpPr>
        <p:spPr>
          <a:xfrm>
            <a:off x="731520" y="5806440"/>
            <a:ext cx="5943600" cy="365760"/>
          </a:xfrm>
          <a:prstGeom prst="rect">
            <a:avLst/>
          </a:prstGeom>
          <a:noFill/>
          <a:ln/>
        </p:spPr>
        <p:txBody>
          <a:bodyPr wrap="square" lIns="0" tIns="0" rIns="0" bIns="0" rtlCol="0" anchor="t"/>
          <a:lstStyle/>
          <a:p>
            <a:pPr indent="0" marL="0">
              <a:buNone/>
            </a:pPr>
            <a:r>
              <a:rPr lang="en-US" sz="1600" b="1" dirty="0">
                <a:solidFill>
                  <a:schemeClr val="bg1"/>
                </a:solidFill>
              </a:rPr>
              <a:t>Axel  ·  Florian  ·  Matthieu  ·  Arvind</a:t>
            </a:r>
            <a:endParaRPr lang="en-US" sz="1600" dirty="0"/>
          </a:p>
        </p:txBody>
      </p:sp>
      <p:sp>
        <p:nvSpPr>
          <p:cNvPr id="5" name="Ombre capture"/>
          <p:cNvSpPr/>
          <p:nvPr/>
        </p:nvSpPr>
        <p:spPr>
          <a:xfrm>
            <a:off x="6400800" y="1097280"/>
            <a:ext cx="5120640" cy="3317284"/>
          </a:xfrm>
          <a:prstGeom prst="rect">
            <a:avLst/>
          </a:prstGeom>
          <a:solidFill>
            <a:schemeClr val="bg1"/>
          </a:solidFill>
          <a:ln/>
          <a:effectLst>
            <a:outerShdw sx="100000" sy="100000" kx="0" ky="0" algn="bl" rotWithShape="0" blurRad="76200" dist="25400" dir="5400000">
              <a:srgbClr val="000000">
                <a:alpha val="7000"/>
              </a:srgbClr>
            </a:outerShdw>
          </a:effectLst>
        </p:spPr>
      </p:sp>
      <p:pic>
        <p:nvPicPr>
          <p:cNvPr id="6" name="Image 0" descr="Capture de l'application Easyfoot : dash">    </p:cNvPr>
          <p:cNvPicPr>
            <a:picLocks noChangeAspect="1"/>
          </p:cNvPicPr>
          <p:nvPr/>
        </p:nvPicPr>
        <p:blipFill>
          <a:blip r:embed="rId1"/>
          <a:stretch>
            <a:fillRect/>
          </a:stretch>
        </p:blipFill>
        <p:spPr>
          <a:xfrm>
            <a:off x="6400800" y="1097280"/>
            <a:ext cx="5120640" cy="3317284"/>
          </a:xfrm>
          <a:prstGeom prst="rect">
            <a:avLst/>
          </a:prstGeom>
        </p:spPr>
      </p:pic>
      <p:sp>
        <p:nvSpPr>
          <p:cNvPr id="7" name="Cadre capture"/>
          <p:cNvSpPr/>
          <p:nvPr/>
        </p:nvSpPr>
        <p:spPr>
          <a:xfrm>
            <a:off x="6400800" y="1097280"/>
            <a:ext cx="5120640" cy="3317284"/>
          </a:xfrm>
          <a:prstGeom prst="rect">
            <a:avLst/>
          </a:prstGeom>
          <a:ln w="9525">
            <a:solidFill>
              <a:schemeClr val="accent6"/>
            </a:solidFill>
            <a:prstDash val="solid"/>
          </a:ln>
        </p:spPr>
      </p:sp>
      <p:sp>
        <p:nvSpPr>
          <p:cNvPr id="8" name="Ombre capture"/>
          <p:cNvSpPr/>
          <p:nvPr/>
        </p:nvSpPr>
        <p:spPr>
          <a:xfrm>
            <a:off x="8686800" y="3840480"/>
            <a:ext cx="2926080" cy="1844703"/>
          </a:xfrm>
          <a:prstGeom prst="rect">
            <a:avLst/>
          </a:prstGeom>
          <a:solidFill>
            <a:schemeClr val="bg1"/>
          </a:solidFill>
          <a:ln/>
          <a:effectLst>
            <a:outerShdw sx="100000" sy="100000" kx="0" ky="0" algn="bl" rotWithShape="0" blurRad="76200" dist="25400" dir="5400000">
              <a:srgbClr val="000000">
                <a:alpha val="7000"/>
              </a:srgbClr>
            </a:outerShdw>
          </a:effectLst>
        </p:spPr>
      </p:sp>
      <p:pic>
        <p:nvPicPr>
          <p:cNvPr id="9" name="Image 1" descr="Capture de l'application Easyfoot : fiche">    </p:cNvPr>
          <p:cNvPicPr>
            <a:picLocks noChangeAspect="1"/>
          </p:cNvPicPr>
          <p:nvPr/>
        </p:nvPicPr>
        <p:blipFill>
          <a:blip r:embed="rId2"/>
          <a:stretch>
            <a:fillRect/>
          </a:stretch>
        </p:blipFill>
        <p:spPr>
          <a:xfrm>
            <a:off x="8686800" y="3840480"/>
            <a:ext cx="2926080" cy="1844703"/>
          </a:xfrm>
          <a:prstGeom prst="rect">
            <a:avLst/>
          </a:prstGeom>
        </p:spPr>
      </p:pic>
      <p:sp>
        <p:nvSpPr>
          <p:cNvPr id="10" name="Cadre capture"/>
          <p:cNvSpPr/>
          <p:nvPr/>
        </p:nvSpPr>
        <p:spPr>
          <a:xfrm>
            <a:off x="8686800" y="3840480"/>
            <a:ext cx="2926080" cy="1844703"/>
          </a:xfrm>
          <a:prstGeom prst="rect">
            <a:avLst/>
          </a:prstGeom>
          <a:ln w="9525">
            <a:solidFill>
              <a:schemeClr val="accent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300" b="1" spc="200" kern="0" dirty="0">
                <a:solidFill>
                  <a:schemeClr val="accent1"/>
                </a:solidFill>
              </a:rPr>
              <a:t>LE PROBLÈME</a:t>
            </a:r>
            <a:endParaRPr lang="en-US" sz="1300" dirty="0"/>
          </a:p>
        </p:txBody>
      </p:sp>
      <p:sp>
        <p:nvSpPr>
          <p:cNvPr id="3" name="Text 1"/>
          <p:cNvSpPr/>
          <p:nvPr>
            <p:ph idx="103"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Un club moderne, des données éparpillées</a:t>
            </a:r>
            <a:endParaRPr lang="en-US" sz="3200" dirty="0"/>
          </a:p>
        </p:txBody>
      </p:sp>
      <p:sp>
        <p:nvSpPr>
          <p:cNvPr id="5" name="Pastille icône"/>
          <p:cNvSpPr/>
          <p:nvPr/>
        </p:nvSpPr>
        <p:spPr>
          <a:xfrm>
            <a:off x="548640" y="1691640"/>
            <a:ext cx="566928" cy="566928"/>
          </a:xfrm>
          <a:prstGeom prst="ellipse">
            <a:avLst/>
          </a:prstGeom>
          <a:solidFill>
            <a:schemeClr val="accent2"/>
          </a:solidFill>
          <a:ln/>
        </p:spPr>
      </p:sp>
      <p:pic>
        <p:nvPicPr>
          <p:cNvPr id="6" name="Image 0" descr="database">    </p:cNvPr>
          <p:cNvPicPr>
            <a:picLocks noChangeAspect="1"/>
          </p:cNvPicPr>
          <p:nvPr/>
        </p:nvPicPr>
        <p:blipFill>
          <a:blip r:embed="rId1"/>
          <a:stretch>
            <a:fillRect/>
          </a:stretch>
        </p:blipFill>
        <p:spPr>
          <a:xfrm>
            <a:off x="690372" y="1833372"/>
            <a:ext cx="283464" cy="283464"/>
          </a:xfrm>
          <a:prstGeom prst="rect">
            <a:avLst/>
          </a:prstGeom>
        </p:spPr>
      </p:pic>
      <p:sp>
        <p:nvSpPr>
          <p:cNvPr id="7" name="Text 3"/>
          <p:cNvSpPr txBox="1"/>
          <p:nvPr/>
        </p:nvSpPr>
        <p:spPr>
          <a:xfrm>
            <a:off x="1325880" y="1673352"/>
            <a:ext cx="4663440" cy="292608"/>
          </a:xfrm>
          <a:prstGeom prst="rect">
            <a:avLst/>
          </a:prstGeom>
          <a:noFill/>
          <a:ln/>
        </p:spPr>
        <p:txBody>
          <a:bodyPr wrap="square" lIns="0" tIns="0" rIns="0" bIns="0" rtlCol="0" anchor="t"/>
          <a:lstStyle/>
          <a:p>
            <a:pPr indent="0" marL="0">
              <a:buNone/>
            </a:pPr>
            <a:r>
              <a:rPr lang="en-US" sz="1800" b="1" dirty="0">
                <a:solidFill>
                  <a:schemeClr val="tx1"/>
                </a:solidFill>
              </a:rPr>
              <a:t>Des données dispersées</a:t>
            </a:r>
            <a:endParaRPr lang="en-US" sz="1800" dirty="0"/>
          </a:p>
        </p:txBody>
      </p:sp>
      <p:sp>
        <p:nvSpPr>
          <p:cNvPr id="8" name="Text 4"/>
          <p:cNvSpPr txBox="1"/>
          <p:nvPr/>
        </p:nvSpPr>
        <p:spPr>
          <a:xfrm>
            <a:off x="1325880" y="2002536"/>
            <a:ext cx="4663440" cy="640080"/>
          </a:xfrm>
          <a:prstGeom prst="rect">
            <a:avLst/>
          </a:prstGeom>
          <a:noFill/>
          <a:ln/>
        </p:spPr>
        <p:txBody>
          <a:bodyPr wrap="square" lIns="0" tIns="0" rIns="0" bIns="0" rtlCol="0" anchor="t"/>
          <a:lstStyle/>
          <a:p>
            <a:pPr indent="0" marL="0">
              <a:buNone/>
            </a:pPr>
            <a:r>
              <a:rPr lang="en-US" sz="1400" dirty="0">
                <a:solidFill>
                  <a:schemeClr val="tx2"/>
                </a:solidFill>
              </a:rPr>
              <a:t>Fiches, GPS, matchs et suivi médical vivent dans des outils séparés.</a:t>
            </a:r>
            <a:endParaRPr lang="en-US" sz="1400" dirty="0"/>
          </a:p>
        </p:txBody>
      </p:sp>
      <p:sp>
        <p:nvSpPr>
          <p:cNvPr id="9" name="Pastille icône"/>
          <p:cNvSpPr/>
          <p:nvPr/>
        </p:nvSpPr>
        <p:spPr>
          <a:xfrm>
            <a:off x="548640" y="2770632"/>
            <a:ext cx="566928" cy="566928"/>
          </a:xfrm>
          <a:prstGeom prst="ellipse">
            <a:avLst/>
          </a:prstGeom>
          <a:solidFill>
            <a:schemeClr val="accent2"/>
          </a:solidFill>
          <a:ln/>
        </p:spPr>
      </p:sp>
      <p:pic>
        <p:nvPicPr>
          <p:cNvPr id="10" name="Image 1" descr="alert">    </p:cNvPr>
          <p:cNvPicPr>
            <a:picLocks noChangeAspect="1"/>
          </p:cNvPicPr>
          <p:nvPr/>
        </p:nvPicPr>
        <p:blipFill>
          <a:blip r:embed="rId2"/>
          <a:stretch>
            <a:fillRect/>
          </a:stretch>
        </p:blipFill>
        <p:spPr>
          <a:xfrm>
            <a:off x="690372" y="2912364"/>
            <a:ext cx="283464" cy="283464"/>
          </a:xfrm>
          <a:prstGeom prst="rect">
            <a:avLst/>
          </a:prstGeom>
        </p:spPr>
      </p:pic>
      <p:sp>
        <p:nvSpPr>
          <p:cNvPr id="11" name="Text 6"/>
          <p:cNvSpPr txBox="1"/>
          <p:nvPr/>
        </p:nvSpPr>
        <p:spPr>
          <a:xfrm>
            <a:off x="1325880" y="2752344"/>
            <a:ext cx="4663440" cy="292608"/>
          </a:xfrm>
          <a:prstGeom prst="rect">
            <a:avLst/>
          </a:prstGeom>
          <a:noFill/>
          <a:ln/>
        </p:spPr>
        <p:txBody>
          <a:bodyPr wrap="square" lIns="0" tIns="0" rIns="0" bIns="0" rtlCol="0" anchor="t"/>
          <a:lstStyle/>
          <a:p>
            <a:pPr indent="0" marL="0">
              <a:buNone/>
            </a:pPr>
            <a:r>
              <a:rPr lang="en-US" sz="1800" b="1" dirty="0">
                <a:solidFill>
                  <a:schemeClr val="tx1"/>
                </a:solidFill>
              </a:rPr>
              <a:t>Des signaux vus trop tard</a:t>
            </a:r>
            <a:endParaRPr lang="en-US" sz="1800" dirty="0"/>
          </a:p>
        </p:txBody>
      </p:sp>
      <p:sp>
        <p:nvSpPr>
          <p:cNvPr id="12" name="Text 7"/>
          <p:cNvSpPr txBox="1"/>
          <p:nvPr/>
        </p:nvSpPr>
        <p:spPr>
          <a:xfrm>
            <a:off x="1325880" y="3081528"/>
            <a:ext cx="4663440" cy="640080"/>
          </a:xfrm>
          <a:prstGeom prst="rect">
            <a:avLst/>
          </a:prstGeom>
          <a:noFill/>
          <a:ln/>
        </p:spPr>
        <p:txBody>
          <a:bodyPr wrap="square" lIns="0" tIns="0" rIns="0" bIns="0" rtlCol="0" anchor="t"/>
          <a:lstStyle/>
          <a:p>
            <a:pPr indent="0" marL="0">
              <a:buNone/>
            </a:pPr>
            <a:r>
              <a:rPr lang="en-US" sz="1400" dirty="0">
                <a:solidFill>
                  <a:schemeClr val="tx2"/>
                </a:solidFill>
              </a:rPr>
              <a:t>Une surcharge ou une gêne passe inaperçue tant que personne ne croise les données.</a:t>
            </a:r>
            <a:endParaRPr lang="en-US" sz="1400" dirty="0"/>
          </a:p>
        </p:txBody>
      </p:sp>
      <p:sp>
        <p:nvSpPr>
          <p:cNvPr id="13" name="Pastille icône"/>
          <p:cNvSpPr/>
          <p:nvPr/>
        </p:nvSpPr>
        <p:spPr>
          <a:xfrm>
            <a:off x="548640" y="3849624"/>
            <a:ext cx="566928" cy="566928"/>
          </a:xfrm>
          <a:prstGeom prst="ellipse">
            <a:avLst/>
          </a:prstGeom>
          <a:solidFill>
            <a:schemeClr val="accent2"/>
          </a:solidFill>
          <a:ln/>
        </p:spPr>
      </p:sp>
      <p:pic>
        <p:nvPicPr>
          <p:cNvPr id="14" name="Image 2" descr="search">    </p:cNvPr>
          <p:cNvPicPr>
            <a:picLocks noChangeAspect="1"/>
          </p:cNvPicPr>
          <p:nvPr/>
        </p:nvPicPr>
        <p:blipFill>
          <a:blip r:embed="rId3"/>
          <a:stretch>
            <a:fillRect/>
          </a:stretch>
        </p:blipFill>
        <p:spPr>
          <a:xfrm>
            <a:off x="690372" y="3991356"/>
            <a:ext cx="283464" cy="283464"/>
          </a:xfrm>
          <a:prstGeom prst="rect">
            <a:avLst/>
          </a:prstGeom>
        </p:spPr>
      </p:pic>
      <p:sp>
        <p:nvSpPr>
          <p:cNvPr id="15" name="Text 9"/>
          <p:cNvSpPr txBox="1"/>
          <p:nvPr/>
        </p:nvSpPr>
        <p:spPr>
          <a:xfrm>
            <a:off x="1325880" y="3831336"/>
            <a:ext cx="4663440" cy="292608"/>
          </a:xfrm>
          <a:prstGeom prst="rect">
            <a:avLst/>
          </a:prstGeom>
          <a:noFill/>
          <a:ln/>
        </p:spPr>
        <p:txBody>
          <a:bodyPr wrap="square" lIns="0" tIns="0" rIns="0" bIns="0" rtlCol="0" anchor="t"/>
          <a:lstStyle/>
          <a:p>
            <a:pPr indent="0" marL="0">
              <a:buNone/>
            </a:pPr>
            <a:r>
              <a:rPr lang="en-US" sz="1800" b="1" dirty="0">
                <a:solidFill>
                  <a:schemeClr val="tx1"/>
                </a:solidFill>
              </a:rPr>
              <a:t>Un recrutement chronophage</a:t>
            </a:r>
            <a:endParaRPr lang="en-US" sz="1800" dirty="0"/>
          </a:p>
        </p:txBody>
      </p:sp>
      <p:sp>
        <p:nvSpPr>
          <p:cNvPr id="16" name="Text 10"/>
          <p:cNvSpPr txBox="1"/>
          <p:nvPr/>
        </p:nvSpPr>
        <p:spPr>
          <a:xfrm>
            <a:off x="1325880" y="4160520"/>
            <a:ext cx="4663440" cy="640080"/>
          </a:xfrm>
          <a:prstGeom prst="rect">
            <a:avLst/>
          </a:prstGeom>
          <a:noFill/>
          <a:ln/>
        </p:spPr>
        <p:txBody>
          <a:bodyPr wrap="square" lIns="0" tIns="0" rIns="0" bIns="0" rtlCol="0" anchor="t"/>
          <a:lstStyle/>
          <a:p>
            <a:pPr indent="0" marL="0">
              <a:buNone/>
            </a:pPr>
            <a:r>
              <a:rPr lang="en-US" sz="1400" dirty="0">
                <a:solidFill>
                  <a:schemeClr val="tx2"/>
                </a:solidFill>
              </a:rPr>
              <a:t>Des dizaines de profils comparés à la main, sans critères communs par poste.</a:t>
            </a:r>
            <a:endParaRPr lang="en-US" sz="1400" dirty="0"/>
          </a:p>
        </p:txBody>
      </p:sp>
      <p:sp>
        <p:nvSpPr>
          <p:cNvPr id="17" name="Pastille icône"/>
          <p:cNvSpPr/>
          <p:nvPr/>
        </p:nvSpPr>
        <p:spPr>
          <a:xfrm>
            <a:off x="548640" y="4928616"/>
            <a:ext cx="566928" cy="566928"/>
          </a:xfrm>
          <a:prstGeom prst="ellipse">
            <a:avLst/>
          </a:prstGeom>
          <a:solidFill>
            <a:schemeClr val="accent2"/>
          </a:solidFill>
          <a:ln/>
        </p:spPr>
      </p:sp>
      <p:pic>
        <p:nvPicPr>
          <p:cNvPr id="18" name="Image 3" descr="users">    </p:cNvPr>
          <p:cNvPicPr>
            <a:picLocks noChangeAspect="1"/>
          </p:cNvPicPr>
          <p:nvPr/>
        </p:nvPicPr>
        <p:blipFill>
          <a:blip r:embed="rId4"/>
          <a:stretch>
            <a:fillRect/>
          </a:stretch>
        </p:blipFill>
        <p:spPr>
          <a:xfrm>
            <a:off x="690372" y="5070348"/>
            <a:ext cx="283464" cy="283464"/>
          </a:xfrm>
          <a:prstGeom prst="rect">
            <a:avLst/>
          </a:prstGeom>
        </p:spPr>
      </p:pic>
      <p:sp>
        <p:nvSpPr>
          <p:cNvPr id="19" name="Text 12"/>
          <p:cNvSpPr txBox="1"/>
          <p:nvPr/>
        </p:nvSpPr>
        <p:spPr>
          <a:xfrm>
            <a:off x="1325880" y="4910328"/>
            <a:ext cx="4663440" cy="292608"/>
          </a:xfrm>
          <a:prstGeom prst="rect">
            <a:avLst/>
          </a:prstGeom>
          <a:noFill/>
          <a:ln/>
        </p:spPr>
        <p:txBody>
          <a:bodyPr wrap="square" lIns="0" tIns="0" rIns="0" bIns="0" rtlCol="0" anchor="t"/>
          <a:lstStyle/>
          <a:p>
            <a:pPr indent="0" marL="0">
              <a:buNone/>
            </a:pPr>
            <a:r>
              <a:rPr lang="en-US" sz="1800" b="1" dirty="0">
                <a:solidFill>
                  <a:schemeClr val="tx1"/>
                </a:solidFill>
              </a:rPr>
              <a:t>Des joueurs hors de la boucle</a:t>
            </a:r>
            <a:endParaRPr lang="en-US" sz="1800" dirty="0"/>
          </a:p>
        </p:txBody>
      </p:sp>
      <p:sp>
        <p:nvSpPr>
          <p:cNvPr id="20" name="Text 13"/>
          <p:cNvSpPr txBox="1"/>
          <p:nvPr/>
        </p:nvSpPr>
        <p:spPr>
          <a:xfrm>
            <a:off x="1325880" y="5239512"/>
            <a:ext cx="4663440" cy="640080"/>
          </a:xfrm>
          <a:prstGeom prst="rect">
            <a:avLst/>
          </a:prstGeom>
          <a:noFill/>
          <a:ln/>
        </p:spPr>
        <p:txBody>
          <a:bodyPr wrap="square" lIns="0" tIns="0" rIns="0" bIns="0" rtlCol="0" anchor="t"/>
          <a:lstStyle/>
          <a:p>
            <a:pPr indent="0" marL="0">
              <a:buNone/>
            </a:pPr>
            <a:r>
              <a:rPr lang="en-US" sz="1400" dirty="0">
                <a:solidFill>
                  <a:schemeClr val="tx2"/>
                </a:solidFill>
              </a:rPr>
              <a:t>Le joueur ne voit pas sa charge, et son ressenti ne remonte pas au staff.</a:t>
            </a:r>
            <a:endParaRPr lang="en-US" sz="1400" dirty="0"/>
          </a:p>
        </p:txBody>
      </p:sp>
      <p:sp>
        <p:nvSpPr>
          <p:cNvPr id="21" name="Carte"/>
          <p:cNvSpPr/>
          <p:nvPr/>
        </p:nvSpPr>
        <p:spPr>
          <a:xfrm>
            <a:off x="6355080" y="1691640"/>
            <a:ext cx="5285232" cy="4206240"/>
          </a:xfrm>
          <a:prstGeom prst="roundRect">
            <a:avLst>
              <a:gd name="adj" fmla="val 2174"/>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22" name="Text 15"/>
          <p:cNvSpPr txBox="1"/>
          <p:nvPr/>
        </p:nvSpPr>
        <p:spPr>
          <a:xfrm>
            <a:off x="6629400" y="1920240"/>
            <a:ext cx="4754880" cy="320040"/>
          </a:xfrm>
          <a:prstGeom prst="rect">
            <a:avLst/>
          </a:prstGeom>
          <a:noFill/>
          <a:ln/>
        </p:spPr>
        <p:txBody>
          <a:bodyPr wrap="square" lIns="0" tIns="0" rIns="0" bIns="0" rtlCol="0" anchor="t"/>
          <a:lstStyle/>
          <a:p>
            <a:pPr indent="0" marL="0">
              <a:buNone/>
            </a:pPr>
            <a:r>
              <a:rPr lang="en-US" sz="1600" b="1" dirty="0">
                <a:solidFill>
                  <a:schemeClr val="tx1"/>
                </a:solidFill>
              </a:rPr>
              <a:t>Aujourd'hui, le staff jongle avec…</a:t>
            </a:r>
            <a:endParaRPr lang="en-US" sz="1600" dirty="0"/>
          </a:p>
        </p:txBody>
      </p:sp>
      <p:sp>
        <p:nvSpPr>
          <p:cNvPr id="23" name="Étiquette"/>
          <p:cNvSpPr/>
          <p:nvPr/>
        </p:nvSpPr>
        <p:spPr>
          <a:xfrm>
            <a:off x="6629400" y="2468880"/>
            <a:ext cx="1234440" cy="420624"/>
          </a:xfrm>
          <a:prstGeom prst="roundRect">
            <a:avLst>
              <a:gd name="adj" fmla="val 32609"/>
            </a:avLst>
          </a:prstGeom>
          <a:solidFill>
            <a:schemeClr val="bg2"/>
          </a:solidFill>
          <a:ln w="9525">
            <a:solidFill>
              <a:schemeClr val="accent6"/>
            </a:solidFill>
          </a:ln>
        </p:spPr>
        <p:txBody>
          <a:bodyPr wrap="square" lIns="508" tIns="508" rIns="508" bIns="508" rtlCol="0" anchor="ctr"/>
          <a:lstStyle/>
          <a:p>
            <a:pPr algn="ctr" indent="0" marL="0">
              <a:buNone/>
            </a:pPr>
            <a:r>
              <a:rPr lang="en-US" sz="1300" b="1" dirty="0">
                <a:solidFill>
                  <a:schemeClr val="tx2"/>
                </a:solidFill>
              </a:rPr>
              <a:t>Tableurs</a:t>
            </a:r>
            <a:endParaRPr lang="en-US" sz="1300" dirty="0"/>
          </a:p>
        </p:txBody>
      </p:sp>
      <p:sp>
        <p:nvSpPr>
          <p:cNvPr id="24" name="Étiquette"/>
          <p:cNvSpPr/>
          <p:nvPr/>
        </p:nvSpPr>
        <p:spPr>
          <a:xfrm>
            <a:off x="7973568" y="2468880"/>
            <a:ext cx="1508760" cy="420624"/>
          </a:xfrm>
          <a:prstGeom prst="roundRect">
            <a:avLst>
              <a:gd name="adj" fmla="val 32609"/>
            </a:avLst>
          </a:prstGeom>
          <a:solidFill>
            <a:schemeClr val="bg2"/>
          </a:solidFill>
          <a:ln w="9525">
            <a:solidFill>
              <a:schemeClr val="accent6"/>
            </a:solidFill>
          </a:ln>
        </p:spPr>
        <p:txBody>
          <a:bodyPr wrap="square" lIns="508" tIns="508" rIns="508" bIns="508" rtlCol="0" anchor="ctr"/>
          <a:lstStyle/>
          <a:p>
            <a:pPr algn="ctr" indent="0" marL="0">
              <a:buNone/>
            </a:pPr>
            <a:r>
              <a:rPr lang="en-US" sz="1300" b="1" dirty="0">
                <a:solidFill>
                  <a:schemeClr val="tx2"/>
                </a:solidFill>
              </a:rPr>
              <a:t>Données GPS</a:t>
            </a:r>
            <a:endParaRPr lang="en-US" sz="1300" dirty="0"/>
          </a:p>
        </p:txBody>
      </p:sp>
      <p:sp>
        <p:nvSpPr>
          <p:cNvPr id="25" name="Étiquette"/>
          <p:cNvSpPr/>
          <p:nvPr/>
        </p:nvSpPr>
        <p:spPr>
          <a:xfrm>
            <a:off x="9592056" y="2468880"/>
            <a:ext cx="1691640" cy="420624"/>
          </a:xfrm>
          <a:prstGeom prst="roundRect">
            <a:avLst>
              <a:gd name="adj" fmla="val 32609"/>
            </a:avLst>
          </a:prstGeom>
          <a:solidFill>
            <a:schemeClr val="bg2"/>
          </a:solidFill>
          <a:ln w="9525">
            <a:solidFill>
              <a:schemeClr val="accent6"/>
            </a:solidFill>
          </a:ln>
        </p:spPr>
        <p:txBody>
          <a:bodyPr wrap="square" lIns="508" tIns="508" rIns="508" bIns="508" rtlCol="0" anchor="ctr"/>
          <a:lstStyle/>
          <a:p>
            <a:pPr algn="ctr" indent="0" marL="0">
              <a:buNone/>
            </a:pPr>
            <a:r>
              <a:rPr lang="en-US" sz="1300" b="1" dirty="0">
                <a:solidFill>
                  <a:schemeClr val="tx2"/>
                </a:solidFill>
              </a:rPr>
              <a:t>Notes FC / FIFA</a:t>
            </a:r>
            <a:endParaRPr lang="en-US" sz="1300" dirty="0"/>
          </a:p>
        </p:txBody>
      </p:sp>
      <p:sp>
        <p:nvSpPr>
          <p:cNvPr id="26" name="Étiquette"/>
          <p:cNvSpPr/>
          <p:nvPr/>
        </p:nvSpPr>
        <p:spPr>
          <a:xfrm>
            <a:off x="6629400" y="3017520"/>
            <a:ext cx="2011680" cy="420624"/>
          </a:xfrm>
          <a:prstGeom prst="roundRect">
            <a:avLst>
              <a:gd name="adj" fmla="val 32609"/>
            </a:avLst>
          </a:prstGeom>
          <a:solidFill>
            <a:schemeClr val="bg2"/>
          </a:solidFill>
          <a:ln w="9525">
            <a:solidFill>
              <a:schemeClr val="accent6"/>
            </a:solidFill>
          </a:ln>
        </p:spPr>
        <p:txBody>
          <a:bodyPr wrap="square" lIns="508" tIns="508" rIns="508" bIns="508" rtlCol="0" anchor="ctr"/>
          <a:lstStyle/>
          <a:p>
            <a:pPr algn="ctr" indent="0" marL="0">
              <a:buNone/>
            </a:pPr>
            <a:r>
              <a:rPr lang="en-US" sz="1300" b="1" dirty="0">
                <a:solidFill>
                  <a:schemeClr val="tx2"/>
                </a:solidFill>
              </a:rPr>
              <a:t>Rapports médicaux</a:t>
            </a:r>
            <a:endParaRPr lang="en-US" sz="1300" dirty="0"/>
          </a:p>
        </p:txBody>
      </p:sp>
      <p:sp>
        <p:nvSpPr>
          <p:cNvPr id="27" name="Étiquette"/>
          <p:cNvSpPr/>
          <p:nvPr/>
        </p:nvSpPr>
        <p:spPr>
          <a:xfrm>
            <a:off x="8750808" y="3017520"/>
            <a:ext cx="914400" cy="420624"/>
          </a:xfrm>
          <a:prstGeom prst="roundRect">
            <a:avLst>
              <a:gd name="adj" fmla="val 32609"/>
            </a:avLst>
          </a:prstGeom>
          <a:solidFill>
            <a:schemeClr val="bg2"/>
          </a:solidFill>
          <a:ln w="9525">
            <a:solidFill>
              <a:schemeClr val="accent6"/>
            </a:solidFill>
          </a:ln>
        </p:spPr>
        <p:txBody>
          <a:bodyPr wrap="square" lIns="508" tIns="508" rIns="508" bIns="508" rtlCol="0" anchor="ctr"/>
          <a:lstStyle/>
          <a:p>
            <a:pPr algn="ctr" indent="0" marL="0">
              <a:buNone/>
            </a:pPr>
            <a:r>
              <a:rPr lang="en-US" sz="1300" b="1" dirty="0">
                <a:solidFill>
                  <a:schemeClr val="tx2"/>
                </a:solidFill>
              </a:rPr>
              <a:t>Vidéo</a:t>
            </a:r>
            <a:endParaRPr lang="en-US" sz="1300" dirty="0"/>
          </a:p>
        </p:txBody>
      </p:sp>
      <p:sp>
        <p:nvSpPr>
          <p:cNvPr id="28" name="Étiquette"/>
          <p:cNvSpPr/>
          <p:nvPr/>
        </p:nvSpPr>
        <p:spPr>
          <a:xfrm>
            <a:off x="9774936" y="3017520"/>
            <a:ext cx="1463040" cy="420624"/>
          </a:xfrm>
          <a:prstGeom prst="roundRect">
            <a:avLst>
              <a:gd name="adj" fmla="val 32609"/>
            </a:avLst>
          </a:prstGeom>
          <a:solidFill>
            <a:schemeClr val="bg2"/>
          </a:solidFill>
          <a:ln w="9525">
            <a:solidFill>
              <a:schemeClr val="accent6"/>
            </a:solidFill>
          </a:ln>
        </p:spPr>
        <p:txBody>
          <a:bodyPr wrap="square" lIns="508" tIns="508" rIns="508" bIns="508" rtlCol="0" anchor="ctr"/>
          <a:lstStyle/>
          <a:p>
            <a:pPr algn="ctr" indent="0" marL="0">
              <a:buNone/>
            </a:pPr>
            <a:r>
              <a:rPr lang="en-US" sz="1300" b="1" dirty="0">
                <a:solidFill>
                  <a:schemeClr val="tx2"/>
                </a:solidFill>
              </a:rPr>
              <a:t>Messageries</a:t>
            </a:r>
            <a:endParaRPr lang="en-US" sz="1300" dirty="0"/>
          </a:p>
        </p:txBody>
      </p:sp>
      <p:sp>
        <p:nvSpPr>
          <p:cNvPr id="29" name="Étiquette"/>
          <p:cNvSpPr/>
          <p:nvPr/>
        </p:nvSpPr>
        <p:spPr>
          <a:xfrm>
            <a:off x="6629400" y="3566160"/>
            <a:ext cx="1737360" cy="420624"/>
          </a:xfrm>
          <a:prstGeom prst="roundRect">
            <a:avLst>
              <a:gd name="adj" fmla="val 32609"/>
            </a:avLst>
          </a:prstGeom>
          <a:solidFill>
            <a:schemeClr val="bg2"/>
          </a:solidFill>
          <a:ln w="9525">
            <a:solidFill>
              <a:schemeClr val="accent6"/>
            </a:solidFill>
          </a:ln>
        </p:spPr>
        <p:txBody>
          <a:bodyPr wrap="square" lIns="508" tIns="508" rIns="508" bIns="508" rtlCol="0" anchor="ctr"/>
          <a:lstStyle/>
          <a:p>
            <a:pPr algn="ctr" indent="0" marL="0">
              <a:buNone/>
            </a:pPr>
            <a:r>
              <a:rPr lang="en-US" sz="1300" b="1" dirty="0">
                <a:solidFill>
                  <a:schemeClr val="tx2"/>
                </a:solidFill>
              </a:rPr>
              <a:t>Notes du staff</a:t>
            </a:r>
            <a:endParaRPr lang="en-US" sz="1300" dirty="0"/>
          </a:p>
        </p:txBody>
      </p:sp>
      <p:sp>
        <p:nvSpPr>
          <p:cNvPr id="30" name="Étiquette"/>
          <p:cNvSpPr/>
          <p:nvPr/>
        </p:nvSpPr>
        <p:spPr>
          <a:xfrm>
            <a:off x="8476488" y="3566160"/>
            <a:ext cx="1280160" cy="420624"/>
          </a:xfrm>
          <a:prstGeom prst="roundRect">
            <a:avLst>
              <a:gd name="adj" fmla="val 32609"/>
            </a:avLst>
          </a:prstGeom>
          <a:solidFill>
            <a:schemeClr val="bg2"/>
          </a:solidFill>
          <a:ln w="9525">
            <a:solidFill>
              <a:schemeClr val="accent6"/>
            </a:solidFill>
          </a:ln>
        </p:spPr>
        <p:txBody>
          <a:bodyPr wrap="square" lIns="508" tIns="508" rIns="508" bIns="508" rtlCol="0" anchor="ctr"/>
          <a:lstStyle/>
          <a:p>
            <a:pPr algn="ctr" indent="0" marL="0">
              <a:buNone/>
            </a:pPr>
            <a:r>
              <a:rPr lang="en-US" sz="1300" b="1" dirty="0">
                <a:solidFill>
                  <a:schemeClr val="tx2"/>
                </a:solidFill>
              </a:rPr>
              <a:t>Scouting</a:t>
            </a:r>
            <a:endParaRPr lang="en-US" sz="1300" dirty="0"/>
          </a:p>
        </p:txBody>
      </p:sp>
      <p:sp>
        <p:nvSpPr>
          <p:cNvPr id="31" name="Étiquette"/>
          <p:cNvSpPr/>
          <p:nvPr/>
        </p:nvSpPr>
        <p:spPr>
          <a:xfrm>
            <a:off x="9866376" y="3566160"/>
            <a:ext cx="1188720" cy="420624"/>
          </a:xfrm>
          <a:prstGeom prst="roundRect">
            <a:avLst>
              <a:gd name="adj" fmla="val 32609"/>
            </a:avLst>
          </a:prstGeom>
          <a:solidFill>
            <a:schemeClr val="bg2"/>
          </a:solidFill>
          <a:ln w="9525">
            <a:solidFill>
              <a:schemeClr val="accent6"/>
            </a:solidFill>
          </a:ln>
        </p:spPr>
        <p:txBody>
          <a:bodyPr wrap="square" lIns="508" tIns="508" rIns="508" bIns="508" rtlCol="0" anchor="ctr"/>
          <a:lstStyle/>
          <a:p>
            <a:pPr algn="ctr" indent="0" marL="0">
              <a:buNone/>
            </a:pPr>
            <a:r>
              <a:rPr lang="en-US" sz="1300" b="1" dirty="0">
                <a:solidFill>
                  <a:schemeClr val="tx2"/>
                </a:solidFill>
              </a:rPr>
              <a:t>E-mails</a:t>
            </a:r>
            <a:endParaRPr lang="en-US" sz="1300" dirty="0"/>
          </a:p>
        </p:txBody>
      </p:sp>
      <p:sp>
        <p:nvSpPr>
          <p:cNvPr id="32" name="Text 25"/>
          <p:cNvSpPr txBox="1"/>
          <p:nvPr/>
        </p:nvSpPr>
        <p:spPr>
          <a:xfrm>
            <a:off x="6629400" y="4343400"/>
            <a:ext cx="4754880" cy="457200"/>
          </a:xfrm>
          <a:prstGeom prst="rect">
            <a:avLst/>
          </a:prstGeom>
          <a:noFill/>
          <a:ln/>
        </p:spPr>
        <p:txBody>
          <a:bodyPr wrap="square" lIns="0" tIns="0" rIns="0" bIns="0" rtlCol="0" anchor="t"/>
          <a:lstStyle/>
          <a:p>
            <a:pPr indent="0" marL="0">
              <a:buNone/>
            </a:pPr>
            <a:r>
              <a:rPr lang="en-US" sz="2800" b="1" dirty="0">
                <a:solidFill>
                  <a:schemeClr val="accent1"/>
                </a:solidFill>
              </a:rPr>
              <a:t>Aucune vue commune.</a:t>
            </a:r>
            <a:endParaRPr lang="en-US" sz="2800" dirty="0"/>
          </a:p>
        </p:txBody>
      </p:sp>
      <p:sp>
        <p:nvSpPr>
          <p:cNvPr id="33" name="Text 26"/>
          <p:cNvSpPr txBox="1"/>
          <p:nvPr/>
        </p:nvSpPr>
        <p:spPr>
          <a:xfrm>
            <a:off x="6629400" y="4937760"/>
            <a:ext cx="4754880" cy="548640"/>
          </a:xfrm>
          <a:prstGeom prst="rect">
            <a:avLst/>
          </a:prstGeom>
          <a:noFill/>
          <a:ln/>
        </p:spPr>
        <p:txBody>
          <a:bodyPr wrap="square" lIns="0" tIns="0" rIns="0" bIns="0" rtlCol="0" anchor="t"/>
          <a:lstStyle/>
          <a:p>
            <a:pPr indent="0" marL="0">
              <a:buNone/>
            </a:pPr>
            <a:r>
              <a:rPr lang="en-US" sz="1600" dirty="0">
                <a:solidFill>
                  <a:schemeClr val="tx2"/>
                </a:solidFill>
              </a:rPr>
              <a:t>Chaque outil a sa propre version de la vérité.</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64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300" b="1" spc="200" kern="0" dirty="0">
                <a:solidFill>
                  <a:schemeClr val="accent1"/>
                </a:solidFill>
              </a:rPr>
              <a:t>NOTRE SOLUTION</a:t>
            </a:r>
            <a:endParaRPr lang="en-US" sz="1300" dirty="0"/>
          </a:p>
        </p:txBody>
      </p:sp>
      <p:sp>
        <p:nvSpPr>
          <p:cNvPr id="3" name="Text 1"/>
          <p:cNvSpPr/>
          <p:nvPr>
            <p:ph idx="103"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Easyfoot : une plateforme, tout le staff aligné</a:t>
            </a:r>
            <a:endParaRPr lang="en-US" sz="3200" dirty="0"/>
          </a:p>
        </p:txBody>
      </p:sp>
      <p:sp>
        <p:nvSpPr>
          <p:cNvPr id="5" name="Carte"/>
          <p:cNvSpPr/>
          <p:nvPr/>
        </p:nvSpPr>
        <p:spPr>
          <a:xfrm>
            <a:off x="548640" y="1691640"/>
            <a:ext cx="3593592" cy="2011680"/>
          </a:xfrm>
          <a:prstGeom prst="roundRect">
            <a:avLst>
              <a:gd name="adj" fmla="val 4545"/>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6" name="Pastille icône"/>
          <p:cNvSpPr/>
          <p:nvPr/>
        </p:nvSpPr>
        <p:spPr>
          <a:xfrm>
            <a:off x="804672" y="1965960"/>
            <a:ext cx="640080" cy="640080"/>
          </a:xfrm>
          <a:prstGeom prst="ellipse">
            <a:avLst/>
          </a:prstGeom>
          <a:solidFill>
            <a:schemeClr val="accent2"/>
          </a:solidFill>
          <a:ln/>
        </p:spPr>
      </p:sp>
      <p:pic>
        <p:nvPicPr>
          <p:cNvPr id="7" name="Image 0" descr="user">    </p:cNvPr>
          <p:cNvPicPr>
            <a:picLocks noChangeAspect="1"/>
          </p:cNvPicPr>
          <p:nvPr/>
        </p:nvPicPr>
        <p:blipFill>
          <a:blip r:embed="rId1"/>
          <a:stretch>
            <a:fillRect/>
          </a:stretch>
        </p:blipFill>
        <p:spPr>
          <a:xfrm>
            <a:off x="964692" y="2125980"/>
            <a:ext cx="320040" cy="320040"/>
          </a:xfrm>
          <a:prstGeom prst="rect">
            <a:avLst/>
          </a:prstGeom>
        </p:spPr>
      </p:pic>
      <p:sp>
        <p:nvSpPr>
          <p:cNvPr id="8" name="Text 4"/>
          <p:cNvSpPr txBox="1"/>
          <p:nvPr/>
        </p:nvSpPr>
        <p:spPr>
          <a:xfrm>
            <a:off x="804672" y="2743200"/>
            <a:ext cx="3108960" cy="320040"/>
          </a:xfrm>
          <a:prstGeom prst="rect">
            <a:avLst/>
          </a:prstGeom>
          <a:noFill/>
          <a:ln/>
        </p:spPr>
        <p:txBody>
          <a:bodyPr wrap="square" lIns="0" tIns="0" rIns="0" bIns="0" rtlCol="0" anchor="t"/>
          <a:lstStyle/>
          <a:p>
            <a:pPr indent="0" marL="0">
              <a:buNone/>
            </a:pPr>
            <a:r>
              <a:rPr lang="en-US" sz="1800" b="1" dirty="0">
                <a:solidFill>
                  <a:schemeClr val="tx1"/>
                </a:solidFill>
              </a:rPr>
              <a:t>Fiche joueur centralisée</a:t>
            </a:r>
            <a:endParaRPr lang="en-US" sz="1800" dirty="0"/>
          </a:p>
        </p:txBody>
      </p:sp>
      <p:sp>
        <p:nvSpPr>
          <p:cNvPr id="9" name="Text 5"/>
          <p:cNvSpPr txBox="1"/>
          <p:nvPr/>
        </p:nvSpPr>
        <p:spPr>
          <a:xfrm>
            <a:off x="804672" y="3081528"/>
            <a:ext cx="3108960" cy="548640"/>
          </a:xfrm>
          <a:prstGeom prst="rect">
            <a:avLst/>
          </a:prstGeom>
          <a:noFill/>
          <a:ln/>
        </p:spPr>
        <p:txBody>
          <a:bodyPr wrap="square" lIns="0" tIns="0" rIns="0" bIns="0" rtlCol="0" anchor="t"/>
          <a:lstStyle/>
          <a:p>
            <a:pPr indent="0" marL="0">
              <a:buNone/>
            </a:pPr>
            <a:r>
              <a:rPr lang="en-US" sz="1400" dirty="0">
                <a:solidFill>
                  <a:schemeClr val="tx2"/>
                </a:solidFill>
              </a:rPr>
              <a:t>Poste, matchs, GPS et historique de suivi au même endroit.</a:t>
            </a:r>
            <a:endParaRPr lang="en-US" sz="1400" dirty="0"/>
          </a:p>
        </p:txBody>
      </p:sp>
      <p:sp>
        <p:nvSpPr>
          <p:cNvPr id="10" name="Carte"/>
          <p:cNvSpPr/>
          <p:nvPr/>
        </p:nvSpPr>
        <p:spPr>
          <a:xfrm>
            <a:off x="4297680" y="1691640"/>
            <a:ext cx="3593592" cy="2011680"/>
          </a:xfrm>
          <a:prstGeom prst="roundRect">
            <a:avLst>
              <a:gd name="adj" fmla="val 4545"/>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11" name="Pastille icône"/>
          <p:cNvSpPr/>
          <p:nvPr/>
        </p:nvSpPr>
        <p:spPr>
          <a:xfrm>
            <a:off x="4553712" y="1965960"/>
            <a:ext cx="640080" cy="640080"/>
          </a:xfrm>
          <a:prstGeom prst="ellipse">
            <a:avLst/>
          </a:prstGeom>
          <a:solidFill>
            <a:schemeClr val="accent2"/>
          </a:solidFill>
          <a:ln/>
        </p:spPr>
      </p:sp>
      <p:pic>
        <p:nvPicPr>
          <p:cNvPr id="12" name="Image 1" descr="search">    </p:cNvPr>
          <p:cNvPicPr>
            <a:picLocks noChangeAspect="1"/>
          </p:cNvPicPr>
          <p:nvPr/>
        </p:nvPicPr>
        <p:blipFill>
          <a:blip r:embed="rId2"/>
          <a:stretch>
            <a:fillRect/>
          </a:stretch>
        </p:blipFill>
        <p:spPr>
          <a:xfrm>
            <a:off x="4713732" y="2125980"/>
            <a:ext cx="320040" cy="320040"/>
          </a:xfrm>
          <a:prstGeom prst="rect">
            <a:avLst/>
          </a:prstGeom>
        </p:spPr>
      </p:pic>
      <p:sp>
        <p:nvSpPr>
          <p:cNvPr id="13" name="Text 8"/>
          <p:cNvSpPr txBox="1"/>
          <p:nvPr/>
        </p:nvSpPr>
        <p:spPr>
          <a:xfrm>
            <a:off x="4553712" y="2743200"/>
            <a:ext cx="3108960" cy="320040"/>
          </a:xfrm>
          <a:prstGeom prst="rect">
            <a:avLst/>
          </a:prstGeom>
          <a:noFill/>
          <a:ln/>
        </p:spPr>
        <p:txBody>
          <a:bodyPr wrap="square" lIns="0" tIns="0" rIns="0" bIns="0" rtlCol="0" anchor="t"/>
          <a:lstStyle/>
          <a:p>
            <a:pPr indent="0" marL="0">
              <a:buNone/>
            </a:pPr>
            <a:r>
              <a:rPr lang="en-US" sz="1800" b="1" dirty="0">
                <a:solidFill>
                  <a:schemeClr val="tx1"/>
                </a:solidFill>
              </a:rPr>
              <a:t>Détection de recrues</a:t>
            </a:r>
            <a:endParaRPr lang="en-US" sz="1800" dirty="0"/>
          </a:p>
        </p:txBody>
      </p:sp>
      <p:sp>
        <p:nvSpPr>
          <p:cNvPr id="14" name="Text 9"/>
          <p:cNvSpPr txBox="1"/>
          <p:nvPr/>
        </p:nvSpPr>
        <p:spPr>
          <a:xfrm>
            <a:off x="4553712" y="3081528"/>
            <a:ext cx="3108960" cy="548640"/>
          </a:xfrm>
          <a:prstGeom prst="rect">
            <a:avLst/>
          </a:prstGeom>
          <a:noFill/>
          <a:ln/>
        </p:spPr>
        <p:txBody>
          <a:bodyPr wrap="square" lIns="0" tIns="0" rIns="0" bIns="0" rtlCol="0" anchor="t"/>
          <a:lstStyle/>
          <a:p>
            <a:pPr indent="0" marL="0">
              <a:buNone/>
            </a:pPr>
            <a:r>
              <a:rPr lang="en-US" sz="1400" dirty="0">
                <a:solidFill>
                  <a:schemeClr val="tx2"/>
                </a:solidFill>
              </a:rPr>
              <a:t>Un profil par poste, les meilleurs prospects classés.</a:t>
            </a:r>
            <a:endParaRPr lang="en-US" sz="1400" dirty="0"/>
          </a:p>
        </p:txBody>
      </p:sp>
      <p:sp>
        <p:nvSpPr>
          <p:cNvPr id="15" name="Carte"/>
          <p:cNvSpPr/>
          <p:nvPr/>
        </p:nvSpPr>
        <p:spPr>
          <a:xfrm>
            <a:off x="8046720" y="1691640"/>
            <a:ext cx="3593592" cy="2011680"/>
          </a:xfrm>
          <a:prstGeom prst="roundRect">
            <a:avLst>
              <a:gd name="adj" fmla="val 4545"/>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16" name="Pastille icône"/>
          <p:cNvSpPr/>
          <p:nvPr/>
        </p:nvSpPr>
        <p:spPr>
          <a:xfrm>
            <a:off x="8302752" y="1965960"/>
            <a:ext cx="640080" cy="640080"/>
          </a:xfrm>
          <a:prstGeom prst="ellipse">
            <a:avLst/>
          </a:prstGeom>
          <a:solidFill>
            <a:schemeClr val="accent2"/>
          </a:solidFill>
          <a:ln/>
        </p:spPr>
      </p:sp>
      <p:pic>
        <p:nvPicPr>
          <p:cNvPr id="17" name="Image 2" descr="repeat">    </p:cNvPr>
          <p:cNvPicPr>
            <a:picLocks noChangeAspect="1"/>
          </p:cNvPicPr>
          <p:nvPr/>
        </p:nvPicPr>
        <p:blipFill>
          <a:blip r:embed="rId3"/>
          <a:stretch>
            <a:fillRect/>
          </a:stretch>
        </p:blipFill>
        <p:spPr>
          <a:xfrm>
            <a:off x="8462772" y="2125980"/>
            <a:ext cx="320040" cy="320040"/>
          </a:xfrm>
          <a:prstGeom prst="rect">
            <a:avLst/>
          </a:prstGeom>
        </p:spPr>
      </p:pic>
      <p:sp>
        <p:nvSpPr>
          <p:cNvPr id="18" name="Text 12"/>
          <p:cNvSpPr txBox="1"/>
          <p:nvPr/>
        </p:nvSpPr>
        <p:spPr>
          <a:xfrm>
            <a:off x="8302752" y="2743200"/>
            <a:ext cx="3108960" cy="320040"/>
          </a:xfrm>
          <a:prstGeom prst="rect">
            <a:avLst/>
          </a:prstGeom>
          <a:noFill/>
          <a:ln/>
        </p:spPr>
        <p:txBody>
          <a:bodyPr wrap="square" lIns="0" tIns="0" rIns="0" bIns="0" rtlCol="0" anchor="t"/>
          <a:lstStyle/>
          <a:p>
            <a:pPr indent="0" marL="0">
              <a:buNone/>
            </a:pPr>
            <a:r>
              <a:rPr lang="en-US" sz="1800" b="1" dirty="0">
                <a:solidFill>
                  <a:schemeClr val="tx1"/>
                </a:solidFill>
              </a:rPr>
              <a:t>Jeunes vs pros</a:t>
            </a:r>
            <a:endParaRPr lang="en-US" sz="1800" dirty="0"/>
          </a:p>
        </p:txBody>
      </p:sp>
      <p:sp>
        <p:nvSpPr>
          <p:cNvPr id="19" name="Text 13"/>
          <p:cNvSpPr txBox="1"/>
          <p:nvPr/>
        </p:nvSpPr>
        <p:spPr>
          <a:xfrm>
            <a:off x="8302752" y="3081528"/>
            <a:ext cx="3108960" cy="548640"/>
          </a:xfrm>
          <a:prstGeom prst="rect">
            <a:avLst/>
          </a:prstGeom>
          <a:noFill/>
          <a:ln/>
        </p:spPr>
        <p:txBody>
          <a:bodyPr wrap="square" lIns="0" tIns="0" rIns="0" bIns="0" rtlCol="0" anchor="t"/>
          <a:lstStyle/>
          <a:p>
            <a:pPr indent="0" marL="0">
              <a:buNone/>
            </a:pPr>
            <a:r>
              <a:rPr lang="en-US" sz="1400" dirty="0">
                <a:solidFill>
                  <a:schemeClr val="tx2"/>
                </a:solidFill>
              </a:rPr>
              <a:t>Écarts et axes de progression face à un pro du même poste.</a:t>
            </a:r>
            <a:endParaRPr lang="en-US" sz="1400" dirty="0"/>
          </a:p>
        </p:txBody>
      </p:sp>
      <p:sp>
        <p:nvSpPr>
          <p:cNvPr id="20" name="Carte"/>
          <p:cNvSpPr/>
          <p:nvPr/>
        </p:nvSpPr>
        <p:spPr>
          <a:xfrm>
            <a:off x="548640" y="3977640"/>
            <a:ext cx="3593592" cy="2011680"/>
          </a:xfrm>
          <a:prstGeom prst="roundRect">
            <a:avLst>
              <a:gd name="adj" fmla="val 4545"/>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21" name="Pastille icône"/>
          <p:cNvSpPr/>
          <p:nvPr/>
        </p:nvSpPr>
        <p:spPr>
          <a:xfrm>
            <a:off x="804672" y="4251960"/>
            <a:ext cx="640080" cy="640080"/>
          </a:xfrm>
          <a:prstGeom prst="ellipse">
            <a:avLst/>
          </a:prstGeom>
          <a:solidFill>
            <a:schemeClr val="accent2"/>
          </a:solidFill>
          <a:ln/>
        </p:spPr>
      </p:sp>
      <p:pic>
        <p:nvPicPr>
          <p:cNvPr id="22" name="Image 3" descr="heart">    </p:cNvPr>
          <p:cNvPicPr>
            <a:picLocks noChangeAspect="1"/>
          </p:cNvPicPr>
          <p:nvPr/>
        </p:nvPicPr>
        <p:blipFill>
          <a:blip r:embed="rId4"/>
          <a:stretch>
            <a:fillRect/>
          </a:stretch>
        </p:blipFill>
        <p:spPr>
          <a:xfrm>
            <a:off x="964692" y="4411980"/>
            <a:ext cx="320040" cy="320040"/>
          </a:xfrm>
          <a:prstGeom prst="rect">
            <a:avLst/>
          </a:prstGeom>
        </p:spPr>
      </p:pic>
      <p:sp>
        <p:nvSpPr>
          <p:cNvPr id="23" name="Text 16"/>
          <p:cNvSpPr txBox="1"/>
          <p:nvPr/>
        </p:nvSpPr>
        <p:spPr>
          <a:xfrm>
            <a:off x="804672" y="5029200"/>
            <a:ext cx="3108960" cy="320040"/>
          </a:xfrm>
          <a:prstGeom prst="rect">
            <a:avLst/>
          </a:prstGeom>
          <a:noFill/>
          <a:ln/>
        </p:spPr>
        <p:txBody>
          <a:bodyPr wrap="square" lIns="0" tIns="0" rIns="0" bIns="0" rtlCol="0" anchor="t"/>
          <a:lstStyle/>
          <a:p>
            <a:pPr indent="0" marL="0">
              <a:buNone/>
            </a:pPr>
            <a:r>
              <a:rPr lang="en-US" sz="1800" b="1" dirty="0">
                <a:solidFill>
                  <a:schemeClr val="tx1"/>
                </a:solidFill>
              </a:rPr>
              <a:t>Suivi physique et retour</a:t>
            </a:r>
            <a:endParaRPr lang="en-US" sz="1800" dirty="0"/>
          </a:p>
        </p:txBody>
      </p:sp>
      <p:sp>
        <p:nvSpPr>
          <p:cNvPr id="24" name="Text 17"/>
          <p:cNvSpPr txBox="1"/>
          <p:nvPr/>
        </p:nvSpPr>
        <p:spPr>
          <a:xfrm>
            <a:off x="804672" y="5367528"/>
            <a:ext cx="3108960" cy="548640"/>
          </a:xfrm>
          <a:prstGeom prst="rect">
            <a:avLst/>
          </a:prstGeom>
          <a:noFill/>
          <a:ln/>
        </p:spPr>
        <p:txBody>
          <a:bodyPr wrap="square" lIns="0" tIns="0" rIns="0" bIns="0" rtlCol="0" anchor="t"/>
          <a:lstStyle/>
          <a:p>
            <a:pPr indent="0" marL="0">
              <a:buNone/>
            </a:pPr>
            <a:r>
              <a:rPr lang="en-US" sz="1400" dirty="0">
                <a:solidFill>
                  <a:schemeClr val="tx2"/>
                </a:solidFill>
              </a:rPr>
              <a:t>Charge, signaux à examiner, parcours de retour de blessure.</a:t>
            </a:r>
            <a:endParaRPr lang="en-US" sz="1400" dirty="0"/>
          </a:p>
        </p:txBody>
      </p:sp>
      <p:sp>
        <p:nvSpPr>
          <p:cNvPr id="25" name="Carte"/>
          <p:cNvSpPr/>
          <p:nvPr/>
        </p:nvSpPr>
        <p:spPr>
          <a:xfrm>
            <a:off x="4297680" y="3977640"/>
            <a:ext cx="3593592" cy="2011680"/>
          </a:xfrm>
          <a:prstGeom prst="roundRect">
            <a:avLst>
              <a:gd name="adj" fmla="val 4545"/>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26" name="Pastille icône"/>
          <p:cNvSpPr/>
          <p:nvPr/>
        </p:nvSpPr>
        <p:spPr>
          <a:xfrm>
            <a:off x="4553712" y="4251960"/>
            <a:ext cx="640080" cy="640080"/>
          </a:xfrm>
          <a:prstGeom prst="ellipse">
            <a:avLst/>
          </a:prstGeom>
          <a:solidFill>
            <a:schemeClr val="accent2"/>
          </a:solidFill>
          <a:ln/>
        </p:spPr>
      </p:sp>
      <p:pic>
        <p:nvPicPr>
          <p:cNvPr id="27" name="Image 4" descr="activity">    </p:cNvPr>
          <p:cNvPicPr>
            <a:picLocks noChangeAspect="1"/>
          </p:cNvPicPr>
          <p:nvPr/>
        </p:nvPicPr>
        <p:blipFill>
          <a:blip r:embed="rId5"/>
          <a:stretch>
            <a:fillRect/>
          </a:stretch>
        </p:blipFill>
        <p:spPr>
          <a:xfrm>
            <a:off x="4713732" y="4411980"/>
            <a:ext cx="320040" cy="320040"/>
          </a:xfrm>
          <a:prstGeom prst="rect">
            <a:avLst/>
          </a:prstGeom>
        </p:spPr>
      </p:pic>
      <p:sp>
        <p:nvSpPr>
          <p:cNvPr id="28" name="Text 20"/>
          <p:cNvSpPr txBox="1"/>
          <p:nvPr/>
        </p:nvSpPr>
        <p:spPr>
          <a:xfrm>
            <a:off x="4553712" y="5029200"/>
            <a:ext cx="3108960" cy="320040"/>
          </a:xfrm>
          <a:prstGeom prst="rect">
            <a:avLst/>
          </a:prstGeom>
          <a:noFill/>
          <a:ln/>
        </p:spPr>
        <p:txBody>
          <a:bodyPr wrap="square" lIns="0" tIns="0" rIns="0" bIns="0" rtlCol="0" anchor="t"/>
          <a:lstStyle/>
          <a:p>
            <a:pPr indent="0" marL="0">
              <a:buNone/>
            </a:pPr>
            <a:r>
              <a:rPr lang="en-US" sz="1800" b="1" dirty="0">
                <a:solidFill>
                  <a:schemeClr val="tx1"/>
                </a:solidFill>
              </a:rPr>
              <a:t>Espace joueur</a:t>
            </a:r>
            <a:endParaRPr lang="en-US" sz="1800" dirty="0"/>
          </a:p>
        </p:txBody>
      </p:sp>
      <p:sp>
        <p:nvSpPr>
          <p:cNvPr id="29" name="Text 21"/>
          <p:cNvSpPr txBox="1"/>
          <p:nvPr/>
        </p:nvSpPr>
        <p:spPr>
          <a:xfrm>
            <a:off x="4553712" y="5367528"/>
            <a:ext cx="3108960" cy="548640"/>
          </a:xfrm>
          <a:prstGeom prst="rect">
            <a:avLst/>
          </a:prstGeom>
          <a:noFill/>
          <a:ln/>
        </p:spPr>
        <p:txBody>
          <a:bodyPr wrap="square" lIns="0" tIns="0" rIns="0" bIns="0" rtlCol="0" anchor="t"/>
          <a:lstStyle/>
          <a:p>
            <a:pPr indent="0" marL="0">
              <a:buNone/>
            </a:pPr>
            <a:r>
              <a:rPr lang="en-US" sz="1400" dirty="0">
                <a:solidFill>
                  <a:schemeClr val="tx2"/>
                </a:solidFill>
              </a:rPr>
              <a:t>Le joueur suit sa charge et partage son bilan avec le staff.</a:t>
            </a:r>
            <a:endParaRPr lang="en-US" sz="1400" dirty="0"/>
          </a:p>
        </p:txBody>
      </p:sp>
      <p:sp>
        <p:nvSpPr>
          <p:cNvPr id="30" name="Carte"/>
          <p:cNvSpPr/>
          <p:nvPr/>
        </p:nvSpPr>
        <p:spPr>
          <a:xfrm>
            <a:off x="8046720" y="3977640"/>
            <a:ext cx="3593592" cy="2011680"/>
          </a:xfrm>
          <a:prstGeom prst="roundRect">
            <a:avLst>
              <a:gd name="adj" fmla="val 4545"/>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31" name="Pastille icône"/>
          <p:cNvSpPr/>
          <p:nvPr/>
        </p:nvSpPr>
        <p:spPr>
          <a:xfrm>
            <a:off x="8302752" y="4251960"/>
            <a:ext cx="640080" cy="640080"/>
          </a:xfrm>
          <a:prstGeom prst="ellipse">
            <a:avLst/>
          </a:prstGeom>
          <a:solidFill>
            <a:schemeClr val="accent2"/>
          </a:solidFill>
          <a:ln/>
        </p:spPr>
      </p:sp>
      <p:pic>
        <p:nvPicPr>
          <p:cNvPr id="32" name="Image 5" descr="grid">    </p:cNvPr>
          <p:cNvPicPr>
            <a:picLocks noChangeAspect="1"/>
          </p:cNvPicPr>
          <p:nvPr/>
        </p:nvPicPr>
        <p:blipFill>
          <a:blip r:embed="rId6"/>
          <a:stretch>
            <a:fillRect/>
          </a:stretch>
        </p:blipFill>
        <p:spPr>
          <a:xfrm>
            <a:off x="8462772" y="4411980"/>
            <a:ext cx="320040" cy="320040"/>
          </a:xfrm>
          <a:prstGeom prst="rect">
            <a:avLst/>
          </a:prstGeom>
        </p:spPr>
      </p:pic>
      <p:sp>
        <p:nvSpPr>
          <p:cNvPr id="33" name="Text 24"/>
          <p:cNvSpPr txBox="1"/>
          <p:nvPr/>
        </p:nvSpPr>
        <p:spPr>
          <a:xfrm>
            <a:off x="8302752" y="5029200"/>
            <a:ext cx="3108960" cy="320040"/>
          </a:xfrm>
          <a:prstGeom prst="rect">
            <a:avLst/>
          </a:prstGeom>
          <a:noFill/>
          <a:ln/>
        </p:spPr>
        <p:txBody>
          <a:bodyPr wrap="square" lIns="0" tIns="0" rIns="0" bIns="0" rtlCol="0" anchor="t"/>
          <a:lstStyle/>
          <a:p>
            <a:pPr indent="0" marL="0">
              <a:buNone/>
            </a:pPr>
            <a:r>
              <a:rPr lang="en-US" sz="1800" b="1" dirty="0">
                <a:solidFill>
                  <a:schemeClr val="tx1"/>
                </a:solidFill>
              </a:rPr>
              <a:t>Données du coach</a:t>
            </a:r>
            <a:endParaRPr lang="en-US" sz="1800" dirty="0"/>
          </a:p>
        </p:txBody>
      </p:sp>
      <p:sp>
        <p:nvSpPr>
          <p:cNvPr id="34" name="Text 25"/>
          <p:cNvSpPr txBox="1"/>
          <p:nvPr/>
        </p:nvSpPr>
        <p:spPr>
          <a:xfrm>
            <a:off x="8302752" y="5367528"/>
            <a:ext cx="3108960" cy="548640"/>
          </a:xfrm>
          <a:prstGeom prst="rect">
            <a:avLst/>
          </a:prstGeom>
          <a:noFill/>
          <a:ln/>
        </p:spPr>
        <p:txBody>
          <a:bodyPr wrap="square" lIns="0" tIns="0" rIns="0" bIns="0" rtlCol="0" anchor="t"/>
          <a:lstStyle/>
          <a:p>
            <a:pPr indent="0" marL="0">
              <a:buNone/>
            </a:pPr>
            <a:r>
              <a:rPr lang="en-US" sz="1400" dirty="0">
                <a:solidFill>
                  <a:schemeClr val="tx2"/>
                </a:solidFill>
              </a:rPr>
              <a:t>Un tableau de bord qui agrège tout avant la séance.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64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300" b="1" spc="200" kern="0" dirty="0">
                <a:solidFill>
                  <a:schemeClr val="accent1"/>
                </a:solidFill>
              </a:rPr>
              <a:t>FICHE JOUEUR ET TABLEAU DE BORD</a:t>
            </a:r>
            <a:endParaRPr lang="en-US" sz="1300" dirty="0"/>
          </a:p>
        </p:txBody>
      </p:sp>
      <p:sp>
        <p:nvSpPr>
          <p:cNvPr id="3" name="Text 1"/>
          <p:cNvSpPr/>
          <p:nvPr>
            <p:ph idx="103"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Tout savoir d'un joueur en un coup d'œil</a:t>
            </a:r>
            <a:endParaRPr lang="en-US" sz="3200" dirty="0"/>
          </a:p>
        </p:txBody>
      </p:sp>
      <p:sp>
        <p:nvSpPr>
          <p:cNvPr id="5" name="Ombre capture"/>
          <p:cNvSpPr/>
          <p:nvPr/>
        </p:nvSpPr>
        <p:spPr>
          <a:xfrm>
            <a:off x="548640" y="1645920"/>
            <a:ext cx="5532120" cy="4305433"/>
          </a:xfrm>
          <a:prstGeom prst="rect">
            <a:avLst/>
          </a:prstGeom>
          <a:solidFill>
            <a:schemeClr val="bg1"/>
          </a:solidFill>
          <a:ln/>
          <a:effectLst>
            <a:outerShdw sx="100000" sy="100000" kx="0" ky="0" algn="bl" rotWithShape="0" blurRad="76200" dist="25400" dir="5400000">
              <a:srgbClr val="000000">
                <a:alpha val="7000"/>
              </a:srgbClr>
            </a:outerShdw>
          </a:effectLst>
        </p:spPr>
      </p:sp>
      <p:pic>
        <p:nvPicPr>
          <p:cNvPr id="6" name="Image 0" descr="Capture de l'application Easyfoot : dash2">    </p:cNvPr>
          <p:cNvPicPr>
            <a:picLocks noChangeAspect="1"/>
          </p:cNvPicPr>
          <p:nvPr/>
        </p:nvPicPr>
        <p:blipFill>
          <a:blip r:embed="rId1"/>
          <a:stretch>
            <a:fillRect/>
          </a:stretch>
        </p:blipFill>
        <p:spPr>
          <a:xfrm>
            <a:off x="548640" y="1645920"/>
            <a:ext cx="5532120" cy="4305433"/>
          </a:xfrm>
          <a:prstGeom prst="rect">
            <a:avLst/>
          </a:prstGeom>
        </p:spPr>
      </p:pic>
      <p:sp>
        <p:nvSpPr>
          <p:cNvPr id="7" name="Cadre capture"/>
          <p:cNvSpPr/>
          <p:nvPr/>
        </p:nvSpPr>
        <p:spPr>
          <a:xfrm>
            <a:off x="548640" y="1645920"/>
            <a:ext cx="5532120" cy="4305433"/>
          </a:xfrm>
          <a:prstGeom prst="rect">
            <a:avLst/>
          </a:prstGeom>
          <a:ln w="9525">
            <a:solidFill>
              <a:schemeClr val="accent6"/>
            </a:solidFill>
            <a:prstDash val="solid"/>
          </a:ln>
        </p:spPr>
      </p:sp>
      <p:sp>
        <p:nvSpPr>
          <p:cNvPr id="8" name="Ombre capture"/>
          <p:cNvSpPr/>
          <p:nvPr/>
        </p:nvSpPr>
        <p:spPr>
          <a:xfrm>
            <a:off x="6766560" y="1645920"/>
            <a:ext cx="4873752" cy="3072583"/>
          </a:xfrm>
          <a:prstGeom prst="rect">
            <a:avLst/>
          </a:prstGeom>
          <a:solidFill>
            <a:schemeClr val="bg1"/>
          </a:solidFill>
          <a:ln/>
          <a:effectLst>
            <a:outerShdw sx="100000" sy="100000" kx="0" ky="0" algn="bl" rotWithShape="0" blurRad="76200" dist="25400" dir="5400000">
              <a:srgbClr val="000000">
                <a:alpha val="7000"/>
              </a:srgbClr>
            </a:outerShdw>
          </a:effectLst>
        </p:spPr>
      </p:sp>
      <p:pic>
        <p:nvPicPr>
          <p:cNvPr id="9" name="Image 1" descr="Capture de l'application Easyfoot : fiche">    </p:cNvPr>
          <p:cNvPicPr>
            <a:picLocks noChangeAspect="1"/>
          </p:cNvPicPr>
          <p:nvPr/>
        </p:nvPicPr>
        <p:blipFill>
          <a:blip r:embed="rId2"/>
          <a:stretch>
            <a:fillRect/>
          </a:stretch>
        </p:blipFill>
        <p:spPr>
          <a:xfrm>
            <a:off x="6766560" y="1645920"/>
            <a:ext cx="4873752" cy="3072583"/>
          </a:xfrm>
          <a:prstGeom prst="rect">
            <a:avLst/>
          </a:prstGeom>
        </p:spPr>
      </p:pic>
      <p:sp>
        <p:nvSpPr>
          <p:cNvPr id="10" name="Cadre capture"/>
          <p:cNvSpPr/>
          <p:nvPr/>
        </p:nvSpPr>
        <p:spPr>
          <a:xfrm>
            <a:off x="6766560" y="1645920"/>
            <a:ext cx="4873752" cy="3072583"/>
          </a:xfrm>
          <a:prstGeom prst="rect">
            <a:avLst/>
          </a:prstGeom>
          <a:ln w="9525">
            <a:solidFill>
              <a:schemeClr val="accent6"/>
            </a:solidFill>
            <a:prstDash val="solid"/>
          </a:ln>
        </p:spPr>
      </p:sp>
      <p:sp>
        <p:nvSpPr>
          <p:cNvPr id="11" name="Text 6"/>
          <p:cNvSpPr txBox="1"/>
          <p:nvPr/>
        </p:nvSpPr>
        <p:spPr>
          <a:xfrm>
            <a:off x="6766560" y="4937760"/>
            <a:ext cx="4873752"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Poste, notes FC 27, GPS, matchs et suivi réunis</a:t>
            </a:r>
            <a:endParaRPr lang="en-US" sz="1400" dirty="0"/>
          </a:p>
          <a:p>
            <a:pPr marL="342900" indent="-342900">
              <a:spcAft>
                <a:spcPts val="600"/>
              </a:spcAft>
              <a:buSzPct val="100000"/>
              <a:buChar char="•"/>
            </a:pPr>
            <a:r>
              <a:rPr lang="en-US" sz="1400" dirty="0">
                <a:solidFill>
                  <a:schemeClr val="tx1"/>
                </a:solidFill>
              </a:rPr>
              <a:t>Onze 4-3-3 disponible et signaux à examiner avant la séance</a:t>
            </a:r>
            <a:endParaRPr lang="en-US" sz="1400" dirty="0"/>
          </a:p>
          <a:p>
            <a:pPr marL="342900" indent="-342900">
              <a:spcAft>
                <a:spcPts val="600"/>
              </a:spcAft>
              <a:buSzPct val="100000"/>
              <a:buChar char="•"/>
            </a:pPr>
            <a:r>
              <a:rPr lang="en-US" sz="1400" dirty="0">
                <a:solidFill>
                  <a:schemeClr val="tx1"/>
                </a:solidFill>
              </a:rPr>
              <a:t>Retours de blessure datés, de J-8 à J-26</a:t>
            </a:r>
            <a:endParaRPr lang="en-US" sz="1400" dirty="0"/>
          </a:p>
        </p:txBody>
      </p:sp>
      <p:sp>
        <p:nvSpPr>
          <p:cNvPr id="12" name="Text 7"/>
          <p:cNvSpPr txBox="1"/>
          <p:nvPr/>
        </p:nvSpPr>
        <p:spPr>
          <a:xfrm>
            <a:off x="548640" y="6144768"/>
            <a:ext cx="8229600" cy="228600"/>
          </a:xfrm>
          <a:prstGeom prst="rect">
            <a:avLst/>
          </a:prstGeom>
          <a:noFill/>
          <a:ln/>
        </p:spPr>
        <p:txBody>
          <a:bodyPr wrap="square" lIns="0" tIns="0" rIns="0" bIns="0" rtlCol="0" anchor="t"/>
          <a:lstStyle/>
          <a:p>
            <a:pPr indent="0" marL="0">
              <a:buNone/>
            </a:pPr>
            <a:r>
              <a:rPr lang="en-US" sz="1000" i="1" dirty="0">
                <a:solidFill>
                  <a:schemeClr val="tx2"/>
                </a:solidFill>
              </a:rPr>
              <a:t>Capture de l'application — notes FC 27 importées ; santé, GPS et matchs : données de démonstration.</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64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300" b="1" spc="200" kern="0" dirty="0">
                <a:solidFill>
                  <a:schemeClr val="accent1"/>
                </a:solidFill>
              </a:rPr>
              <a:t>RECRUTEMENT ET JEUNES VS PROS</a:t>
            </a:r>
            <a:endParaRPr lang="en-US" sz="1300" dirty="0"/>
          </a:p>
        </p:txBody>
      </p:sp>
      <p:sp>
        <p:nvSpPr>
          <p:cNvPr id="3" name="Text 1"/>
          <p:cNvSpPr/>
          <p:nvPr>
            <p:ph idx="103"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Trouver la bonne recrue, faire progresser les jeunes</a:t>
            </a:r>
            <a:endParaRPr lang="en-US" sz="3200" dirty="0"/>
          </a:p>
        </p:txBody>
      </p:sp>
      <p:sp>
        <p:nvSpPr>
          <p:cNvPr id="5" name="Text 2"/>
          <p:cNvSpPr txBox="1"/>
          <p:nvPr/>
        </p:nvSpPr>
        <p:spPr>
          <a:xfrm>
            <a:off x="548640" y="1645920"/>
            <a:ext cx="5486400" cy="320040"/>
          </a:xfrm>
          <a:prstGeom prst="rect">
            <a:avLst/>
          </a:prstGeom>
          <a:noFill/>
          <a:ln/>
        </p:spPr>
        <p:txBody>
          <a:bodyPr wrap="square" lIns="0" tIns="0" rIns="0" bIns="0" rtlCol="0" anchor="t"/>
          <a:lstStyle/>
          <a:p>
            <a:pPr indent="0" marL="0">
              <a:buNone/>
            </a:pPr>
            <a:r>
              <a:rPr lang="en-US" sz="1800" b="1" dirty="0">
                <a:solidFill>
                  <a:schemeClr val="tx1"/>
                </a:solidFill>
              </a:rPr>
              <a:t>Un profil par poste, des prospects classés</a:t>
            </a:r>
            <a:endParaRPr lang="en-US" sz="1800" dirty="0"/>
          </a:p>
        </p:txBody>
      </p:sp>
      <p:sp>
        <p:nvSpPr>
          <p:cNvPr id="6" name="Text 3"/>
          <p:cNvSpPr txBox="1"/>
          <p:nvPr/>
        </p:nvSpPr>
        <p:spPr>
          <a:xfrm>
            <a:off x="6309360" y="1645920"/>
            <a:ext cx="5303520" cy="320040"/>
          </a:xfrm>
          <a:prstGeom prst="rect">
            <a:avLst/>
          </a:prstGeom>
          <a:noFill/>
          <a:ln/>
        </p:spPr>
        <p:txBody>
          <a:bodyPr wrap="square" lIns="0" tIns="0" rIns="0" bIns="0" rtlCol="0" anchor="t"/>
          <a:lstStyle/>
          <a:p>
            <a:pPr indent="0" marL="0">
              <a:buNone/>
            </a:pPr>
            <a:r>
              <a:rPr lang="en-US" sz="1800" b="1" dirty="0">
                <a:solidFill>
                  <a:schemeClr val="tx1"/>
                </a:solidFill>
              </a:rPr>
              <a:t>Un jeune face à un pro du même poste</a:t>
            </a:r>
            <a:endParaRPr lang="en-US" sz="1800" dirty="0"/>
          </a:p>
        </p:txBody>
      </p:sp>
      <p:sp>
        <p:nvSpPr>
          <p:cNvPr id="7" name="Ombre capture"/>
          <p:cNvSpPr/>
          <p:nvPr/>
        </p:nvSpPr>
        <p:spPr>
          <a:xfrm>
            <a:off x="548640" y="2103120"/>
            <a:ext cx="5394960" cy="2771723"/>
          </a:xfrm>
          <a:prstGeom prst="rect">
            <a:avLst/>
          </a:prstGeom>
          <a:solidFill>
            <a:schemeClr val="bg1"/>
          </a:solidFill>
          <a:ln/>
          <a:effectLst>
            <a:outerShdw sx="100000" sy="100000" kx="0" ky="0" algn="bl" rotWithShape="0" blurRad="76200" dist="25400" dir="5400000">
              <a:srgbClr val="000000">
                <a:alpha val="7000"/>
              </a:srgbClr>
            </a:outerShdw>
          </a:effectLst>
        </p:spPr>
      </p:sp>
      <p:pic>
        <p:nvPicPr>
          <p:cNvPr id="8" name="Image 0" descr="Capture de l'application Easyfoot : reco">    </p:cNvPr>
          <p:cNvPicPr>
            <a:picLocks noChangeAspect="1"/>
          </p:cNvPicPr>
          <p:nvPr/>
        </p:nvPicPr>
        <p:blipFill>
          <a:blip r:embed="rId1"/>
          <a:stretch>
            <a:fillRect/>
          </a:stretch>
        </p:blipFill>
        <p:spPr>
          <a:xfrm>
            <a:off x="548640" y="2103120"/>
            <a:ext cx="5394960" cy="2771723"/>
          </a:xfrm>
          <a:prstGeom prst="rect">
            <a:avLst/>
          </a:prstGeom>
        </p:spPr>
      </p:pic>
      <p:sp>
        <p:nvSpPr>
          <p:cNvPr id="9" name="Cadre capture"/>
          <p:cNvSpPr/>
          <p:nvPr/>
        </p:nvSpPr>
        <p:spPr>
          <a:xfrm>
            <a:off x="548640" y="2103120"/>
            <a:ext cx="5394960" cy="2771723"/>
          </a:xfrm>
          <a:prstGeom prst="rect">
            <a:avLst/>
          </a:prstGeom>
          <a:ln w="9525">
            <a:solidFill>
              <a:schemeClr val="accent6"/>
            </a:solidFill>
            <a:prstDash val="solid"/>
          </a:ln>
        </p:spPr>
      </p:sp>
      <p:sp>
        <p:nvSpPr>
          <p:cNvPr id="10" name="Ombre capture"/>
          <p:cNvSpPr/>
          <p:nvPr/>
        </p:nvSpPr>
        <p:spPr>
          <a:xfrm>
            <a:off x="6309360" y="2103120"/>
            <a:ext cx="5330952" cy="2758188"/>
          </a:xfrm>
          <a:prstGeom prst="rect">
            <a:avLst/>
          </a:prstGeom>
          <a:solidFill>
            <a:schemeClr val="bg1"/>
          </a:solidFill>
          <a:ln/>
          <a:effectLst>
            <a:outerShdw sx="100000" sy="100000" kx="0" ky="0" algn="bl" rotWithShape="0" blurRad="76200" dist="25400" dir="5400000">
              <a:srgbClr val="000000">
                <a:alpha val="7000"/>
              </a:srgbClr>
            </a:outerShdw>
          </a:effectLst>
        </p:spPr>
      </p:sp>
      <p:pic>
        <p:nvPicPr>
          <p:cNvPr id="11" name="Image 1" descr="Capture de l'application Easyfoot : compar2">    </p:cNvPr>
          <p:cNvPicPr>
            <a:picLocks noChangeAspect="1"/>
          </p:cNvPicPr>
          <p:nvPr/>
        </p:nvPicPr>
        <p:blipFill>
          <a:blip r:embed="rId2"/>
          <a:stretch>
            <a:fillRect/>
          </a:stretch>
        </p:blipFill>
        <p:spPr>
          <a:xfrm>
            <a:off x="6309360" y="2103120"/>
            <a:ext cx="5330952" cy="2758188"/>
          </a:xfrm>
          <a:prstGeom prst="rect">
            <a:avLst/>
          </a:prstGeom>
        </p:spPr>
      </p:pic>
      <p:sp>
        <p:nvSpPr>
          <p:cNvPr id="12" name="Cadre capture"/>
          <p:cNvSpPr/>
          <p:nvPr/>
        </p:nvSpPr>
        <p:spPr>
          <a:xfrm>
            <a:off x="6309360" y="2103120"/>
            <a:ext cx="5330952" cy="2758188"/>
          </a:xfrm>
          <a:prstGeom prst="rect">
            <a:avLst/>
          </a:prstGeom>
          <a:ln w="9525">
            <a:solidFill>
              <a:schemeClr val="accent6"/>
            </a:solidFill>
            <a:prstDash val="solid"/>
          </a:ln>
        </p:spPr>
      </p:sp>
      <p:sp>
        <p:nvSpPr>
          <p:cNvPr id="13" name="Text 8"/>
          <p:cNvSpPr txBox="1"/>
          <p:nvPr/>
        </p:nvSpPr>
        <p:spPr>
          <a:xfrm>
            <a:off x="548640" y="5257800"/>
            <a:ext cx="5394960" cy="731520"/>
          </a:xfrm>
          <a:prstGeom prst="rect">
            <a:avLst/>
          </a:prstGeom>
          <a:noFill/>
          <a:ln/>
        </p:spPr>
        <p:txBody>
          <a:bodyPr wrap="square" lIns="0" tIns="0" rIns="0" bIns="0" rtlCol="0" anchor="t"/>
          <a:lstStyle/>
          <a:p>
            <a:pPr indent="0" marL="0">
              <a:buNone/>
            </a:pPr>
            <a:r>
              <a:rPr lang="en-US" sz="1400" dirty="0">
                <a:solidFill>
                  <a:schemeClr val="tx1"/>
                </a:solidFill>
              </a:rPr>
              <a:t>6 profils de poste, 60 prospects classés. </a:t>
            </a:r>
            <a:pPr indent="0" marL="0">
              <a:buNone/>
            </a:pPr>
            <a:r>
              <a:rPr lang="en-US" sz="1400" b="1" dirty="0">
                <a:solidFill>
                  <a:schemeClr val="accent1"/>
                </a:solidFill>
              </a:rPr>
              <a:t>Milos Degenek : 67,6 (+1,8 vs l'effectif).</a:t>
            </a:r>
            <a:endParaRPr lang="en-US" sz="1400" dirty="0"/>
          </a:p>
        </p:txBody>
      </p:sp>
      <p:sp>
        <p:nvSpPr>
          <p:cNvPr id="14" name="Text 9"/>
          <p:cNvSpPr txBox="1"/>
          <p:nvPr/>
        </p:nvSpPr>
        <p:spPr>
          <a:xfrm>
            <a:off x="6309360" y="5257800"/>
            <a:ext cx="5330952" cy="731520"/>
          </a:xfrm>
          <a:prstGeom prst="rect">
            <a:avLst/>
          </a:prstGeom>
          <a:noFill/>
          <a:ln/>
        </p:spPr>
        <p:txBody>
          <a:bodyPr wrap="square" lIns="0" tIns="0" rIns="0" bIns="0" rtlCol="0" anchor="t"/>
          <a:lstStyle/>
          <a:p>
            <a:pPr indent="0" marL="0">
              <a:buNone/>
            </a:pPr>
            <a:r>
              <a:rPr lang="en-US" sz="1400" dirty="0">
                <a:solidFill>
                  <a:schemeClr val="tx1"/>
                </a:solidFill>
              </a:rPr>
              <a:t>Moussa Faty face à Ismaïl Bouleghcha : </a:t>
            </a:r>
            <a:pPr indent="0" marL="0">
              <a:buNone/>
            </a:pPr>
            <a:r>
              <a:rPr lang="en-US" sz="1400" b="1" dirty="0">
                <a:solidFill>
                  <a:schemeClr val="accent1"/>
                </a:solidFill>
              </a:rPr>
              <a:t>83 % de similarité de style</a:t>
            </a:r>
            <a:pPr indent="0" marL="0">
              <a:buNone/>
            </a:pPr>
            <a:r>
              <a:rPr lang="en-US" sz="1400" dirty="0">
                <a:solidFill>
                  <a:schemeClr val="tx1"/>
                </a:solidFill>
              </a:rPr>
              <a:t>, trois axes de progression chiffrés.</a:t>
            </a:r>
            <a:endParaRPr lang="en-US" sz="1400" dirty="0"/>
          </a:p>
        </p:txBody>
      </p:sp>
      <p:sp>
        <p:nvSpPr>
          <p:cNvPr id="15" name="Text 10"/>
          <p:cNvSpPr txBox="1"/>
          <p:nvPr/>
        </p:nvSpPr>
        <p:spPr>
          <a:xfrm>
            <a:off x="548640" y="6144768"/>
            <a:ext cx="8229600" cy="228600"/>
          </a:xfrm>
          <a:prstGeom prst="rect">
            <a:avLst/>
          </a:prstGeom>
          <a:noFill/>
          <a:ln/>
        </p:spPr>
        <p:txBody>
          <a:bodyPr wrap="square" lIns="0" tIns="0" rIns="0" bIns="0" rtlCol="0" anchor="t"/>
          <a:lstStyle/>
          <a:p>
            <a:pPr indent="0" marL="0">
              <a:buNone/>
            </a:pPr>
            <a:r>
              <a:rPr lang="en-US" sz="1000" i="1" dirty="0">
                <a:solidFill>
                  <a:schemeClr val="tx2"/>
                </a:solidFill>
              </a:rPr>
              <a:t>Capture de l'application — notes FC 27 importées ; santé, GPS et matchs : données de démonstration.</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64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300" b="1" spc="200" kern="0" dirty="0">
                <a:solidFill>
                  <a:schemeClr val="accent1"/>
                </a:solidFill>
              </a:rPr>
              <a:t>SUIVI PHYSIQUE ET RÉATHLÉTISATION</a:t>
            </a:r>
            <a:endParaRPr lang="en-US" sz="1300" dirty="0"/>
          </a:p>
        </p:txBody>
      </p:sp>
      <p:sp>
        <p:nvSpPr>
          <p:cNvPr id="3" name="Text 1"/>
          <p:cNvSpPr/>
          <p:nvPr>
            <p:ph idx="103"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Voir la surcharge avant la blessure</a:t>
            </a:r>
            <a:endParaRPr lang="en-US" sz="3200" dirty="0"/>
          </a:p>
        </p:txBody>
      </p:sp>
      <p:sp>
        <p:nvSpPr>
          <p:cNvPr id="5" name="Carte"/>
          <p:cNvSpPr/>
          <p:nvPr/>
        </p:nvSpPr>
        <p:spPr>
          <a:xfrm>
            <a:off x="548640" y="1691640"/>
            <a:ext cx="3474720" cy="1188720"/>
          </a:xfrm>
          <a:prstGeom prst="roundRect">
            <a:avLst>
              <a:gd name="adj" fmla="val 7692"/>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6" name="Text 3"/>
          <p:cNvSpPr txBox="1"/>
          <p:nvPr/>
        </p:nvSpPr>
        <p:spPr>
          <a:xfrm>
            <a:off x="777240" y="1819656"/>
            <a:ext cx="3017520" cy="502920"/>
          </a:xfrm>
          <a:prstGeom prst="rect">
            <a:avLst/>
          </a:prstGeom>
          <a:noFill/>
          <a:ln/>
        </p:spPr>
        <p:txBody>
          <a:bodyPr wrap="square" lIns="0" tIns="0" rIns="0" bIns="0" rtlCol="0" anchor="t"/>
          <a:lstStyle/>
          <a:p>
            <a:pPr indent="0" marL="0">
              <a:buNone/>
            </a:pPr>
            <a:r>
              <a:rPr lang="en-US" sz="3000" b="1" dirty="0">
                <a:solidFill>
                  <a:schemeClr val="accent1"/>
                </a:solidFill>
              </a:rPr>
              <a:t>0,8 – 1,3</a:t>
            </a:r>
            <a:endParaRPr lang="en-US" sz="3000" dirty="0"/>
          </a:p>
        </p:txBody>
      </p:sp>
      <p:sp>
        <p:nvSpPr>
          <p:cNvPr id="7" name="Text 4"/>
          <p:cNvSpPr txBox="1"/>
          <p:nvPr/>
        </p:nvSpPr>
        <p:spPr>
          <a:xfrm>
            <a:off x="777240" y="2350008"/>
            <a:ext cx="3017520" cy="457200"/>
          </a:xfrm>
          <a:prstGeom prst="rect">
            <a:avLst/>
          </a:prstGeom>
          <a:noFill/>
          <a:ln/>
        </p:spPr>
        <p:txBody>
          <a:bodyPr wrap="square" lIns="0" tIns="0" rIns="0" bIns="0" rtlCol="0" anchor="t"/>
          <a:lstStyle/>
          <a:p>
            <a:pPr indent="0" marL="0">
              <a:buNone/>
            </a:pPr>
            <a:r>
              <a:rPr lang="en-US" sz="1400" dirty="0">
                <a:solidFill>
                  <a:schemeClr val="tx2"/>
                </a:solidFill>
              </a:rPr>
              <a:t>Zone optimale du ratio charge 7 j / moyenne 28 j</a:t>
            </a:r>
            <a:endParaRPr lang="en-US" sz="1400" dirty="0"/>
          </a:p>
        </p:txBody>
      </p:sp>
      <p:sp>
        <p:nvSpPr>
          <p:cNvPr id="8" name="Carte"/>
          <p:cNvSpPr/>
          <p:nvPr/>
        </p:nvSpPr>
        <p:spPr>
          <a:xfrm>
            <a:off x="548640" y="3063240"/>
            <a:ext cx="3474720" cy="1188720"/>
          </a:xfrm>
          <a:prstGeom prst="roundRect">
            <a:avLst>
              <a:gd name="adj" fmla="val 7692"/>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9" name="Text 6"/>
          <p:cNvSpPr txBox="1"/>
          <p:nvPr/>
        </p:nvSpPr>
        <p:spPr>
          <a:xfrm>
            <a:off x="777240" y="3191256"/>
            <a:ext cx="3017520" cy="502920"/>
          </a:xfrm>
          <a:prstGeom prst="rect">
            <a:avLst/>
          </a:prstGeom>
          <a:noFill/>
          <a:ln/>
        </p:spPr>
        <p:txBody>
          <a:bodyPr wrap="square" lIns="0" tIns="0" rIns="0" bIns="0" rtlCol="0" anchor="t"/>
          <a:lstStyle/>
          <a:p>
            <a:pPr indent="0" marL="0">
              <a:buNone/>
            </a:pPr>
            <a:r>
              <a:rPr lang="en-US" sz="3000" b="1" dirty="0">
                <a:solidFill>
                  <a:schemeClr val="accent1"/>
                </a:solidFill>
              </a:rPr>
              <a:t>3 joueurs</a:t>
            </a:r>
            <a:endParaRPr lang="en-US" sz="3000" dirty="0"/>
          </a:p>
        </p:txBody>
      </p:sp>
      <p:sp>
        <p:nvSpPr>
          <p:cNvPr id="10" name="Text 7"/>
          <p:cNvSpPr txBox="1"/>
          <p:nvPr/>
        </p:nvSpPr>
        <p:spPr>
          <a:xfrm>
            <a:off x="777240" y="3721608"/>
            <a:ext cx="3017520" cy="457200"/>
          </a:xfrm>
          <a:prstGeom prst="rect">
            <a:avLst/>
          </a:prstGeom>
          <a:noFill/>
          <a:ln/>
        </p:spPr>
        <p:txBody>
          <a:bodyPr wrap="square" lIns="0" tIns="0" rIns="0" bIns="0" rtlCol="0" anchor="t"/>
          <a:lstStyle/>
          <a:p>
            <a:pPr indent="0" marL="0">
              <a:buNone/>
            </a:pPr>
            <a:r>
              <a:rPr lang="en-US" sz="1400" dirty="0">
                <a:solidFill>
                  <a:schemeClr val="tx2"/>
                </a:solidFill>
              </a:rPr>
              <a:t>en surcharge aujourd'hui (ratio de 1,6 à 1,74)</a:t>
            </a:r>
            <a:endParaRPr lang="en-US" sz="1400" dirty="0"/>
          </a:p>
        </p:txBody>
      </p:sp>
      <p:sp>
        <p:nvSpPr>
          <p:cNvPr id="11" name="Carte"/>
          <p:cNvSpPr/>
          <p:nvPr/>
        </p:nvSpPr>
        <p:spPr>
          <a:xfrm>
            <a:off x="548640" y="4434840"/>
            <a:ext cx="3474720" cy="1188720"/>
          </a:xfrm>
          <a:prstGeom prst="roundRect">
            <a:avLst>
              <a:gd name="adj" fmla="val 7692"/>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12" name="Text 9"/>
          <p:cNvSpPr txBox="1"/>
          <p:nvPr/>
        </p:nvSpPr>
        <p:spPr>
          <a:xfrm>
            <a:off x="777240" y="4562856"/>
            <a:ext cx="3017520" cy="502920"/>
          </a:xfrm>
          <a:prstGeom prst="rect">
            <a:avLst/>
          </a:prstGeom>
          <a:noFill/>
          <a:ln/>
        </p:spPr>
        <p:txBody>
          <a:bodyPr wrap="square" lIns="0" tIns="0" rIns="0" bIns="0" rtlCol="0" anchor="t"/>
          <a:lstStyle/>
          <a:p>
            <a:pPr indent="0" marL="0">
              <a:buNone/>
            </a:pPr>
            <a:r>
              <a:rPr lang="en-US" sz="3000" b="1" dirty="0">
                <a:solidFill>
                  <a:schemeClr val="accent1"/>
                </a:solidFill>
              </a:rPr>
              <a:t>17</a:t>
            </a:r>
            <a:endParaRPr lang="en-US" sz="3000" dirty="0"/>
          </a:p>
        </p:txBody>
      </p:sp>
      <p:sp>
        <p:nvSpPr>
          <p:cNvPr id="13" name="Text 10"/>
          <p:cNvSpPr txBox="1"/>
          <p:nvPr/>
        </p:nvSpPr>
        <p:spPr>
          <a:xfrm>
            <a:off x="777240" y="5093208"/>
            <a:ext cx="3017520" cy="457200"/>
          </a:xfrm>
          <a:prstGeom prst="rect">
            <a:avLst/>
          </a:prstGeom>
          <a:noFill/>
          <a:ln/>
        </p:spPr>
        <p:txBody>
          <a:bodyPr wrap="square" lIns="0" tIns="0" rIns="0" bIns="0" rtlCol="0" anchor="t"/>
          <a:lstStyle/>
          <a:p>
            <a:pPr indent="0" marL="0">
              <a:buNone/>
            </a:pPr>
            <a:r>
              <a:rPr lang="en-US" sz="1400" dirty="0">
                <a:solidFill>
                  <a:schemeClr val="tx2"/>
                </a:solidFill>
              </a:rPr>
              <a:t>situations à examiner : charge, fatigue, gêne, reprise</a:t>
            </a:r>
            <a:endParaRPr lang="en-US" sz="1400" dirty="0"/>
          </a:p>
        </p:txBody>
      </p:sp>
      <p:sp>
        <p:nvSpPr>
          <p:cNvPr id="14" name="Ombre capture"/>
          <p:cNvSpPr/>
          <p:nvPr/>
        </p:nvSpPr>
        <p:spPr>
          <a:xfrm>
            <a:off x="4297680" y="1645920"/>
            <a:ext cx="4663440" cy="2065822"/>
          </a:xfrm>
          <a:prstGeom prst="rect">
            <a:avLst/>
          </a:prstGeom>
          <a:solidFill>
            <a:schemeClr val="bg1"/>
          </a:solidFill>
          <a:ln/>
          <a:effectLst>
            <a:outerShdw sx="100000" sy="100000" kx="0" ky="0" algn="bl" rotWithShape="0" blurRad="76200" dist="25400" dir="5400000">
              <a:srgbClr val="000000">
                <a:alpha val="7000"/>
              </a:srgbClr>
            </a:outerShdw>
          </a:effectLst>
        </p:spPr>
      </p:sp>
      <p:pic>
        <p:nvPicPr>
          <p:cNvPr id="15" name="Image 0" descr="Capture de l'application Easyfoot : phys-top">    </p:cNvPr>
          <p:cNvPicPr>
            <a:picLocks noChangeAspect="1"/>
          </p:cNvPicPr>
          <p:nvPr/>
        </p:nvPicPr>
        <p:blipFill>
          <a:blip r:embed="rId1"/>
          <a:stretch>
            <a:fillRect/>
          </a:stretch>
        </p:blipFill>
        <p:spPr>
          <a:xfrm>
            <a:off x="4297680" y="1645920"/>
            <a:ext cx="4663440" cy="2065822"/>
          </a:xfrm>
          <a:prstGeom prst="rect">
            <a:avLst/>
          </a:prstGeom>
        </p:spPr>
      </p:pic>
      <p:sp>
        <p:nvSpPr>
          <p:cNvPr id="16" name="Cadre capture"/>
          <p:cNvSpPr/>
          <p:nvPr/>
        </p:nvSpPr>
        <p:spPr>
          <a:xfrm>
            <a:off x="4297680" y="1645920"/>
            <a:ext cx="4663440" cy="2065822"/>
          </a:xfrm>
          <a:prstGeom prst="rect">
            <a:avLst/>
          </a:prstGeom>
          <a:ln w="9525">
            <a:solidFill>
              <a:schemeClr val="accent6"/>
            </a:solidFill>
            <a:prstDash val="solid"/>
          </a:ln>
        </p:spPr>
      </p:sp>
      <p:sp>
        <p:nvSpPr>
          <p:cNvPr id="17" name="Ombre capture"/>
          <p:cNvSpPr/>
          <p:nvPr/>
        </p:nvSpPr>
        <p:spPr>
          <a:xfrm>
            <a:off x="4297680" y="3886200"/>
            <a:ext cx="4663440" cy="1349943"/>
          </a:xfrm>
          <a:prstGeom prst="rect">
            <a:avLst/>
          </a:prstGeom>
          <a:solidFill>
            <a:schemeClr val="bg1"/>
          </a:solidFill>
          <a:ln/>
          <a:effectLst>
            <a:outerShdw sx="100000" sy="100000" kx="0" ky="0" algn="bl" rotWithShape="0" blurRad="76200" dist="25400" dir="5400000">
              <a:srgbClr val="000000">
                <a:alpha val="7000"/>
              </a:srgbClr>
            </a:outerShdw>
          </a:effectLst>
        </p:spPr>
      </p:sp>
      <p:pic>
        <p:nvPicPr>
          <p:cNvPr id="18" name="Image 1" descr="Capture de l'application Easyfoot : phys-table">    </p:cNvPr>
          <p:cNvPicPr>
            <a:picLocks noChangeAspect="1"/>
          </p:cNvPicPr>
          <p:nvPr/>
        </p:nvPicPr>
        <p:blipFill>
          <a:blip r:embed="rId2"/>
          <a:stretch>
            <a:fillRect/>
          </a:stretch>
        </p:blipFill>
        <p:spPr>
          <a:xfrm>
            <a:off x="4297680" y="3886200"/>
            <a:ext cx="4663440" cy="1349943"/>
          </a:xfrm>
          <a:prstGeom prst="rect">
            <a:avLst/>
          </a:prstGeom>
        </p:spPr>
      </p:pic>
      <p:sp>
        <p:nvSpPr>
          <p:cNvPr id="19" name="Cadre capture"/>
          <p:cNvSpPr/>
          <p:nvPr/>
        </p:nvSpPr>
        <p:spPr>
          <a:xfrm>
            <a:off x="4297680" y="3886200"/>
            <a:ext cx="4663440" cy="1349943"/>
          </a:xfrm>
          <a:prstGeom prst="rect">
            <a:avLst/>
          </a:prstGeom>
          <a:ln w="9525">
            <a:solidFill>
              <a:schemeClr val="accent6"/>
            </a:solidFill>
            <a:prstDash val="solid"/>
          </a:ln>
        </p:spPr>
      </p:sp>
      <p:sp>
        <p:nvSpPr>
          <p:cNvPr id="20" name="Ombre capture"/>
          <p:cNvSpPr/>
          <p:nvPr/>
        </p:nvSpPr>
        <p:spPr>
          <a:xfrm>
            <a:off x="9235440" y="1645920"/>
            <a:ext cx="2404872" cy="4112680"/>
          </a:xfrm>
          <a:prstGeom prst="rect">
            <a:avLst/>
          </a:prstGeom>
          <a:solidFill>
            <a:schemeClr val="bg1"/>
          </a:solidFill>
          <a:ln/>
          <a:effectLst>
            <a:outerShdw sx="100000" sy="100000" kx="0" ky="0" algn="bl" rotWithShape="0" blurRad="76200" dist="25400" dir="5400000">
              <a:srgbClr val="000000">
                <a:alpha val="7000"/>
              </a:srgbClr>
            </a:outerShdw>
          </a:effectLst>
        </p:spPr>
      </p:sp>
      <p:pic>
        <p:nvPicPr>
          <p:cNvPr id="21" name="Image 2" descr="Capture de l'application Easyfoot : phys-retours">    </p:cNvPr>
          <p:cNvPicPr>
            <a:picLocks noChangeAspect="1"/>
          </p:cNvPicPr>
          <p:nvPr/>
        </p:nvPicPr>
        <p:blipFill>
          <a:blip r:embed="rId3"/>
          <a:stretch>
            <a:fillRect/>
          </a:stretch>
        </p:blipFill>
        <p:spPr>
          <a:xfrm>
            <a:off x="9235440" y="1645920"/>
            <a:ext cx="2404872" cy="4112680"/>
          </a:xfrm>
          <a:prstGeom prst="rect">
            <a:avLst/>
          </a:prstGeom>
        </p:spPr>
      </p:pic>
      <p:sp>
        <p:nvSpPr>
          <p:cNvPr id="22" name="Cadre capture"/>
          <p:cNvSpPr/>
          <p:nvPr/>
        </p:nvSpPr>
        <p:spPr>
          <a:xfrm>
            <a:off x="9235440" y="1645920"/>
            <a:ext cx="2404872" cy="4112680"/>
          </a:xfrm>
          <a:prstGeom prst="rect">
            <a:avLst/>
          </a:prstGeom>
          <a:ln w="9525">
            <a:solidFill>
              <a:schemeClr val="accent6"/>
            </a:solidFill>
            <a:prstDash val="solid"/>
          </a:ln>
        </p:spPr>
      </p:sp>
      <p:sp>
        <p:nvSpPr>
          <p:cNvPr id="23" name="Text 17"/>
          <p:cNvSpPr txBox="1"/>
          <p:nvPr/>
        </p:nvSpPr>
        <p:spPr>
          <a:xfrm>
            <a:off x="548640" y="6080760"/>
            <a:ext cx="8229600" cy="228600"/>
          </a:xfrm>
          <a:prstGeom prst="rect">
            <a:avLst/>
          </a:prstGeom>
          <a:noFill/>
          <a:ln/>
        </p:spPr>
        <p:txBody>
          <a:bodyPr wrap="square" lIns="0" tIns="0" rIns="0" bIns="0" rtlCol="0" anchor="t"/>
          <a:lstStyle/>
          <a:p>
            <a:pPr indent="0" marL="0">
              <a:buNone/>
            </a:pPr>
            <a:r>
              <a:rPr lang="en-US" sz="1000" i="1" dirty="0">
                <a:solidFill>
                  <a:schemeClr val="tx2"/>
                </a:solidFill>
              </a:rPr>
              <a:t>Capture de l'application — données de charge simulées. L'outil signale, le staff décide.</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64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300" b="1" spc="200" kern="0" dirty="0">
                <a:solidFill>
                  <a:schemeClr val="accent1"/>
                </a:solidFill>
              </a:rPr>
              <a:t>ESPACE JOUEUR ET DONNÉES DU COACH</a:t>
            </a:r>
            <a:endParaRPr lang="en-US" sz="1300" dirty="0"/>
          </a:p>
        </p:txBody>
      </p:sp>
      <p:sp>
        <p:nvSpPr>
          <p:cNvPr id="3" name="Text 1"/>
          <p:cNvSpPr/>
          <p:nvPr>
            <p:ph idx="103"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Le joueur dans la boucle, le coach avec la vue d'ensemble</a:t>
            </a:r>
            <a:endParaRPr lang="en-US" sz="3200" dirty="0"/>
          </a:p>
        </p:txBody>
      </p:sp>
      <p:sp>
        <p:nvSpPr>
          <p:cNvPr id="5" name="Ombre capture"/>
          <p:cNvSpPr/>
          <p:nvPr/>
        </p:nvSpPr>
        <p:spPr>
          <a:xfrm>
            <a:off x="548640" y="1645920"/>
            <a:ext cx="4754880" cy="3865924"/>
          </a:xfrm>
          <a:prstGeom prst="rect">
            <a:avLst/>
          </a:prstGeom>
          <a:solidFill>
            <a:schemeClr val="bg1"/>
          </a:solidFill>
          <a:ln/>
          <a:effectLst>
            <a:outerShdw sx="100000" sy="100000" kx="0" ky="0" algn="bl" rotWithShape="0" blurRad="76200" dist="25400" dir="5400000">
              <a:srgbClr val="000000">
                <a:alpha val="7000"/>
              </a:srgbClr>
            </a:outerShdw>
          </a:effectLst>
        </p:spPr>
      </p:sp>
      <p:pic>
        <p:nvPicPr>
          <p:cNvPr id="6" name="Image 0" descr="Capture de l'application Easyfoot : espace2">    </p:cNvPr>
          <p:cNvPicPr>
            <a:picLocks noChangeAspect="1"/>
          </p:cNvPicPr>
          <p:nvPr/>
        </p:nvPicPr>
        <p:blipFill>
          <a:blip r:embed="rId1"/>
          <a:stretch>
            <a:fillRect/>
          </a:stretch>
        </p:blipFill>
        <p:spPr>
          <a:xfrm>
            <a:off x="548640" y="1645920"/>
            <a:ext cx="4754880" cy="3865924"/>
          </a:xfrm>
          <a:prstGeom prst="rect">
            <a:avLst/>
          </a:prstGeom>
        </p:spPr>
      </p:pic>
      <p:sp>
        <p:nvSpPr>
          <p:cNvPr id="7" name="Cadre capture"/>
          <p:cNvSpPr/>
          <p:nvPr/>
        </p:nvSpPr>
        <p:spPr>
          <a:xfrm>
            <a:off x="548640" y="1645920"/>
            <a:ext cx="4754880" cy="3865924"/>
          </a:xfrm>
          <a:prstGeom prst="rect">
            <a:avLst/>
          </a:prstGeom>
          <a:ln w="9525">
            <a:solidFill>
              <a:schemeClr val="accent6"/>
            </a:solidFill>
            <a:prstDash val="solid"/>
          </a:ln>
        </p:spPr>
      </p:sp>
      <p:sp>
        <p:nvSpPr>
          <p:cNvPr id="8" name="Carte"/>
          <p:cNvSpPr/>
          <p:nvPr/>
        </p:nvSpPr>
        <p:spPr>
          <a:xfrm>
            <a:off x="5760720" y="1645920"/>
            <a:ext cx="5879592" cy="1965960"/>
          </a:xfrm>
          <a:prstGeom prst="roundRect">
            <a:avLst>
              <a:gd name="adj" fmla="val 4651"/>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9" name="Pastille icône"/>
          <p:cNvSpPr/>
          <p:nvPr/>
        </p:nvSpPr>
        <p:spPr>
          <a:xfrm>
            <a:off x="6035040" y="1847088"/>
            <a:ext cx="457200" cy="457200"/>
          </a:xfrm>
          <a:prstGeom prst="ellipse">
            <a:avLst/>
          </a:prstGeom>
          <a:solidFill>
            <a:schemeClr val="accent2"/>
          </a:solidFill>
          <a:ln/>
        </p:spPr>
      </p:sp>
      <p:pic>
        <p:nvPicPr>
          <p:cNvPr id="10" name="Image 1" descr="user">    </p:cNvPr>
          <p:cNvPicPr>
            <a:picLocks noChangeAspect="1"/>
          </p:cNvPicPr>
          <p:nvPr/>
        </p:nvPicPr>
        <p:blipFill>
          <a:blip r:embed="rId2"/>
          <a:stretch>
            <a:fillRect/>
          </a:stretch>
        </p:blipFill>
        <p:spPr>
          <a:xfrm>
            <a:off x="6149340" y="1961388"/>
            <a:ext cx="228600" cy="228600"/>
          </a:xfrm>
          <a:prstGeom prst="rect">
            <a:avLst/>
          </a:prstGeom>
        </p:spPr>
      </p:pic>
      <p:sp>
        <p:nvSpPr>
          <p:cNvPr id="11" name="Text 6"/>
          <p:cNvSpPr txBox="1"/>
          <p:nvPr/>
        </p:nvSpPr>
        <p:spPr>
          <a:xfrm>
            <a:off x="6675120" y="1920240"/>
            <a:ext cx="3657600" cy="320040"/>
          </a:xfrm>
          <a:prstGeom prst="rect">
            <a:avLst/>
          </a:prstGeom>
          <a:noFill/>
          <a:ln/>
        </p:spPr>
        <p:txBody>
          <a:bodyPr wrap="square" lIns="0" tIns="0" rIns="0" bIns="0" rtlCol="0" anchor="t"/>
          <a:lstStyle/>
          <a:p>
            <a:pPr indent="0" marL="0">
              <a:buNone/>
            </a:pPr>
            <a:r>
              <a:rPr lang="en-US" sz="1800" b="1" dirty="0">
                <a:solidFill>
                  <a:schemeClr val="tx1"/>
                </a:solidFill>
              </a:rPr>
              <a:t>Espace joueur</a:t>
            </a:r>
            <a:endParaRPr lang="en-US" sz="1800" dirty="0"/>
          </a:p>
        </p:txBody>
      </p:sp>
      <p:sp>
        <p:nvSpPr>
          <p:cNvPr id="12" name="Text 7"/>
          <p:cNvSpPr txBox="1"/>
          <p:nvPr/>
        </p:nvSpPr>
        <p:spPr>
          <a:xfrm>
            <a:off x="6035040" y="2450592"/>
            <a:ext cx="539496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Sa charge et sa forme de la semaine</a:t>
            </a:r>
            <a:endParaRPr lang="en-US" sz="1400" dirty="0"/>
          </a:p>
          <a:p>
            <a:pPr marL="342900" indent="-342900">
              <a:spcAft>
                <a:spcPts val="400"/>
              </a:spcAft>
              <a:buSzPct val="100000"/>
              <a:buChar char="•"/>
            </a:pPr>
            <a:r>
              <a:rPr lang="en-US" sz="1400" dirty="0">
                <a:solidFill>
                  <a:schemeClr val="tx1"/>
                </a:solidFill>
              </a:rPr>
              <a:t>Ses objectifs vs un modèle de son poste</a:t>
            </a:r>
            <a:endParaRPr lang="en-US" sz="1400" dirty="0"/>
          </a:p>
          <a:p>
            <a:pPr marL="342900" indent="-342900">
              <a:spcAft>
                <a:spcPts val="400"/>
              </a:spcAft>
              <a:buSzPct val="100000"/>
              <a:buChar char="•"/>
            </a:pPr>
            <a:r>
              <a:rPr lang="en-US" sz="1400" dirty="0">
                <a:solidFill>
                  <a:schemeClr val="tx1"/>
                </a:solidFill>
              </a:rPr>
              <a:t>Un bilan du jour partagé avec le staff</a:t>
            </a:r>
            <a:endParaRPr lang="en-US" sz="1400" dirty="0"/>
          </a:p>
        </p:txBody>
      </p:sp>
      <p:sp>
        <p:nvSpPr>
          <p:cNvPr id="13" name="Carte"/>
          <p:cNvSpPr/>
          <p:nvPr/>
        </p:nvSpPr>
        <p:spPr>
          <a:xfrm>
            <a:off x="5760720" y="3794760"/>
            <a:ext cx="5879592" cy="1965960"/>
          </a:xfrm>
          <a:prstGeom prst="roundRect">
            <a:avLst>
              <a:gd name="adj" fmla="val 4651"/>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14" name="Pastille icône"/>
          <p:cNvSpPr/>
          <p:nvPr/>
        </p:nvSpPr>
        <p:spPr>
          <a:xfrm>
            <a:off x="6035040" y="3995928"/>
            <a:ext cx="457200" cy="457200"/>
          </a:xfrm>
          <a:prstGeom prst="ellipse">
            <a:avLst/>
          </a:prstGeom>
          <a:solidFill>
            <a:schemeClr val="accent2"/>
          </a:solidFill>
          <a:ln/>
        </p:spPr>
      </p:sp>
      <p:pic>
        <p:nvPicPr>
          <p:cNvPr id="15" name="Image 2" descr="grid">    </p:cNvPr>
          <p:cNvPicPr>
            <a:picLocks noChangeAspect="1"/>
          </p:cNvPicPr>
          <p:nvPr/>
        </p:nvPicPr>
        <p:blipFill>
          <a:blip r:embed="rId3"/>
          <a:stretch>
            <a:fillRect/>
          </a:stretch>
        </p:blipFill>
        <p:spPr>
          <a:xfrm>
            <a:off x="6149340" y="4110228"/>
            <a:ext cx="228600" cy="228600"/>
          </a:xfrm>
          <a:prstGeom prst="rect">
            <a:avLst/>
          </a:prstGeom>
        </p:spPr>
      </p:pic>
      <p:sp>
        <p:nvSpPr>
          <p:cNvPr id="16" name="Text 10"/>
          <p:cNvSpPr txBox="1"/>
          <p:nvPr/>
        </p:nvSpPr>
        <p:spPr>
          <a:xfrm>
            <a:off x="6675120" y="4069080"/>
            <a:ext cx="3657600" cy="320040"/>
          </a:xfrm>
          <a:prstGeom prst="rect">
            <a:avLst/>
          </a:prstGeom>
          <a:noFill/>
          <a:ln/>
        </p:spPr>
        <p:txBody>
          <a:bodyPr wrap="square" lIns="0" tIns="0" rIns="0" bIns="0" rtlCol="0" anchor="t"/>
          <a:lstStyle/>
          <a:p>
            <a:pPr indent="0" marL="0">
              <a:buNone/>
            </a:pPr>
            <a:r>
              <a:rPr lang="en-US" sz="1800" b="1" dirty="0">
                <a:solidFill>
                  <a:schemeClr val="tx1"/>
                </a:solidFill>
              </a:rPr>
              <a:t>Vue du coach</a:t>
            </a:r>
            <a:endParaRPr lang="en-US" sz="1800" dirty="0"/>
          </a:p>
        </p:txBody>
      </p:sp>
      <p:sp>
        <p:nvSpPr>
          <p:cNvPr id="17" name="Text 11"/>
          <p:cNvSpPr txBox="1"/>
          <p:nvPr/>
        </p:nvSpPr>
        <p:spPr>
          <a:xfrm>
            <a:off x="6035040" y="4599432"/>
            <a:ext cx="539496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Signaux prioritaires et retours attendus</a:t>
            </a:r>
            <a:endParaRPr lang="en-US" sz="1400" dirty="0"/>
          </a:p>
          <a:p>
            <a:pPr marL="342900" indent="-342900">
              <a:spcAft>
                <a:spcPts val="400"/>
              </a:spcAft>
              <a:buSzPct val="100000"/>
              <a:buChar char="•"/>
            </a:pPr>
            <a:r>
              <a:rPr lang="en-US" sz="1400" dirty="0">
                <a:solidFill>
                  <a:schemeClr val="tx1"/>
                </a:solidFill>
              </a:rPr>
              <a:t>Derniers bilans du staff et des joueurs</a:t>
            </a:r>
            <a:endParaRPr lang="en-US" sz="1400" dirty="0"/>
          </a:p>
          <a:p>
            <a:pPr marL="342900" indent="-342900">
              <a:spcAft>
                <a:spcPts val="400"/>
              </a:spcAft>
              <a:buSzPct val="100000"/>
              <a:buChar char="•"/>
            </a:pPr>
            <a:r>
              <a:rPr lang="en-US" sz="1400" dirty="0">
                <a:solidFill>
                  <a:schemeClr val="tx1"/>
                </a:solidFill>
              </a:rPr>
              <a:t>Pistes de recrutement par profil de poste</a:t>
            </a:r>
            <a:endParaRPr lang="en-US" sz="1400" dirty="0"/>
          </a:p>
        </p:txBody>
      </p:sp>
      <p:sp>
        <p:nvSpPr>
          <p:cNvPr id="18" name="Text 12"/>
          <p:cNvSpPr txBox="1"/>
          <p:nvPr/>
        </p:nvSpPr>
        <p:spPr>
          <a:xfrm>
            <a:off x="548640" y="6144768"/>
            <a:ext cx="8229600" cy="228600"/>
          </a:xfrm>
          <a:prstGeom prst="rect">
            <a:avLst/>
          </a:prstGeom>
          <a:noFill/>
          <a:ln/>
        </p:spPr>
        <p:txBody>
          <a:bodyPr wrap="square" lIns="0" tIns="0" rIns="0" bIns="0" rtlCol="0" anchor="t"/>
          <a:lstStyle/>
          <a:p>
            <a:pPr indent="0" marL="0">
              <a:buNone/>
            </a:pPr>
            <a:r>
              <a:rPr lang="en-US" sz="1000" i="1" dirty="0">
                <a:solidFill>
                  <a:schemeClr val="tx2"/>
                </a:solidFill>
              </a:rPr>
              <a:t>Capture de l'application — notes FC 27 importées ; santé, GPS et matchs : données de démonstration.</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64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300" b="1" spc="200" kern="0" dirty="0">
                <a:solidFill>
                  <a:schemeClr val="accent1"/>
                </a:solidFill>
              </a:rPr>
              <a:t>FINANCE</a:t>
            </a:r>
            <a:endParaRPr lang="en-US" sz="1300" dirty="0"/>
          </a:p>
        </p:txBody>
      </p:sp>
      <p:sp>
        <p:nvSpPr>
          <p:cNvPr id="3" name="Text 1"/>
          <p:cNvSpPr/>
          <p:nvPr>
            <p:ph idx="103"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A lean build and a simple revenue model</a:t>
            </a:r>
            <a:endParaRPr lang="en-US" sz="3200" dirty="0"/>
          </a:p>
        </p:txBody>
      </p:sp>
      <p:sp>
        <p:nvSpPr>
          <p:cNvPr id="5" name="Carte"/>
          <p:cNvSpPr/>
          <p:nvPr/>
        </p:nvSpPr>
        <p:spPr>
          <a:xfrm>
            <a:off x="548640" y="1645920"/>
            <a:ext cx="3593592" cy="2514600"/>
          </a:xfrm>
          <a:prstGeom prst="roundRect">
            <a:avLst>
              <a:gd name="adj" fmla="val 3636"/>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6" name="Pastille icône"/>
          <p:cNvSpPr/>
          <p:nvPr/>
        </p:nvSpPr>
        <p:spPr>
          <a:xfrm>
            <a:off x="804672" y="1874520"/>
            <a:ext cx="502920" cy="502920"/>
          </a:xfrm>
          <a:prstGeom prst="ellipse">
            <a:avLst/>
          </a:prstGeom>
          <a:solidFill>
            <a:schemeClr val="accent2"/>
          </a:solidFill>
          <a:ln/>
        </p:spPr>
      </p:sp>
      <p:pic>
        <p:nvPicPr>
          <p:cNvPr id="7" name="Image 0" descr="layers">    </p:cNvPr>
          <p:cNvPicPr>
            <a:picLocks noChangeAspect="1"/>
          </p:cNvPicPr>
          <p:nvPr/>
        </p:nvPicPr>
        <p:blipFill>
          <a:blip r:embed="rId1"/>
          <a:stretch>
            <a:fillRect/>
          </a:stretch>
        </p:blipFill>
        <p:spPr>
          <a:xfrm>
            <a:off x="930402" y="2000250"/>
            <a:ext cx="251460" cy="251460"/>
          </a:xfrm>
          <a:prstGeom prst="rect">
            <a:avLst/>
          </a:prstGeom>
        </p:spPr>
      </p:pic>
      <p:sp>
        <p:nvSpPr>
          <p:cNvPr id="8" name="Text 4"/>
          <p:cNvSpPr txBox="1"/>
          <p:nvPr/>
        </p:nvSpPr>
        <p:spPr>
          <a:xfrm>
            <a:off x="1463040" y="1947672"/>
            <a:ext cx="2468880" cy="365760"/>
          </a:xfrm>
          <a:prstGeom prst="rect">
            <a:avLst/>
          </a:prstGeom>
          <a:noFill/>
          <a:ln/>
        </p:spPr>
        <p:txBody>
          <a:bodyPr wrap="square" lIns="0" tIns="0" rIns="0" bIns="0" rtlCol="0" anchor="t"/>
          <a:lstStyle/>
          <a:p>
            <a:pPr indent="0" marL="0">
              <a:buNone/>
            </a:pPr>
            <a:r>
              <a:rPr lang="en-US" sz="2000" b="1" dirty="0">
                <a:solidFill>
                  <a:schemeClr val="tx1"/>
                </a:solidFill>
              </a:rPr>
              <a:t>Build</a:t>
            </a:r>
            <a:endParaRPr lang="en-US" sz="2000" dirty="0"/>
          </a:p>
        </p:txBody>
      </p:sp>
      <p:sp>
        <p:nvSpPr>
          <p:cNvPr id="9" name="Text 5"/>
          <p:cNvSpPr txBox="1"/>
          <p:nvPr/>
        </p:nvSpPr>
        <p:spPr>
          <a:xfrm>
            <a:off x="804672" y="2560320"/>
            <a:ext cx="3108960" cy="502920"/>
          </a:xfrm>
          <a:prstGeom prst="rect">
            <a:avLst/>
          </a:prstGeom>
          <a:noFill/>
          <a:ln/>
        </p:spPr>
        <p:txBody>
          <a:bodyPr wrap="square" lIns="0" tIns="0" rIns="0" bIns="0" rtlCol="0" anchor="ctr"/>
          <a:lstStyle/>
          <a:p>
            <a:pPr indent="0" marL="0">
              <a:buNone/>
            </a:pPr>
            <a:r>
              <a:rPr lang="en-US" sz="2600" b="1" dirty="0">
                <a:solidFill>
                  <a:schemeClr val="accent1"/>
                </a:solidFill>
              </a:rPr>
              <a:t>€ [ ___ ]</a:t>
            </a:r>
            <a:pPr indent="0" marL="0">
              <a:buNone/>
            </a:pPr>
            <a:r>
              <a:rPr lang="en-US" sz="1400" dirty="0">
                <a:solidFill>
                  <a:schemeClr val="tx2"/>
                </a:solidFill>
              </a:rPr>
              <a:t>  one-off</a:t>
            </a:r>
            <a:endParaRPr lang="en-US" sz="2600" dirty="0"/>
          </a:p>
        </p:txBody>
      </p:sp>
      <p:sp>
        <p:nvSpPr>
          <p:cNvPr id="10" name="Text 6"/>
          <p:cNvSpPr txBox="1"/>
          <p:nvPr/>
        </p:nvSpPr>
        <p:spPr>
          <a:xfrm>
            <a:off x="804672" y="3200400"/>
            <a:ext cx="3108960" cy="822960"/>
          </a:xfrm>
          <a:prstGeom prst="rect">
            <a:avLst/>
          </a:prstGeom>
          <a:noFill/>
          <a:ln/>
        </p:spPr>
        <p:txBody>
          <a:bodyPr wrap="square" lIns="0" tIns="0" rIns="0" bIns="0" rtlCol="0" anchor="t"/>
          <a:lstStyle/>
          <a:p>
            <a:pPr indent="0" marL="0">
              <a:buNone/>
            </a:pPr>
            <a:r>
              <a:rPr lang="en-US" sz="1400" dirty="0">
                <a:solidFill>
                  <a:schemeClr val="tx2"/>
                </a:solidFill>
              </a:rPr>
              <a:t>Delivered: web app and API on an open-source stack, with no software licence fees.</a:t>
            </a:r>
            <a:endParaRPr lang="en-US" sz="1400" dirty="0"/>
          </a:p>
        </p:txBody>
      </p:sp>
      <p:sp>
        <p:nvSpPr>
          <p:cNvPr id="11" name="Carte"/>
          <p:cNvSpPr/>
          <p:nvPr/>
        </p:nvSpPr>
        <p:spPr>
          <a:xfrm>
            <a:off x="4297680" y="1645920"/>
            <a:ext cx="3593592" cy="2514600"/>
          </a:xfrm>
          <a:prstGeom prst="roundRect">
            <a:avLst>
              <a:gd name="adj" fmla="val 3636"/>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12" name="Pastille icône"/>
          <p:cNvSpPr/>
          <p:nvPr/>
        </p:nvSpPr>
        <p:spPr>
          <a:xfrm>
            <a:off x="4553712" y="1874520"/>
            <a:ext cx="502920" cy="502920"/>
          </a:xfrm>
          <a:prstGeom prst="ellipse">
            <a:avLst/>
          </a:prstGeom>
          <a:solidFill>
            <a:schemeClr val="accent2"/>
          </a:solidFill>
          <a:ln/>
        </p:spPr>
      </p:sp>
      <p:pic>
        <p:nvPicPr>
          <p:cNvPr id="13" name="Image 1" descr="server">    </p:cNvPr>
          <p:cNvPicPr>
            <a:picLocks noChangeAspect="1"/>
          </p:cNvPicPr>
          <p:nvPr/>
        </p:nvPicPr>
        <p:blipFill>
          <a:blip r:embed="rId2"/>
          <a:stretch>
            <a:fillRect/>
          </a:stretch>
        </p:blipFill>
        <p:spPr>
          <a:xfrm>
            <a:off x="4679442" y="2000250"/>
            <a:ext cx="251460" cy="251460"/>
          </a:xfrm>
          <a:prstGeom prst="rect">
            <a:avLst/>
          </a:prstGeom>
        </p:spPr>
      </p:pic>
      <p:sp>
        <p:nvSpPr>
          <p:cNvPr id="14" name="Text 9"/>
          <p:cNvSpPr txBox="1"/>
          <p:nvPr/>
        </p:nvSpPr>
        <p:spPr>
          <a:xfrm>
            <a:off x="5212080" y="1947672"/>
            <a:ext cx="2468880" cy="365760"/>
          </a:xfrm>
          <a:prstGeom prst="rect">
            <a:avLst/>
          </a:prstGeom>
          <a:noFill/>
          <a:ln/>
        </p:spPr>
        <p:txBody>
          <a:bodyPr wrap="square" lIns="0" tIns="0" rIns="0" bIns="0" rtlCol="0" anchor="t"/>
          <a:lstStyle/>
          <a:p>
            <a:pPr indent="0" marL="0">
              <a:buNone/>
            </a:pPr>
            <a:r>
              <a:rPr lang="en-US" sz="2000" b="1" dirty="0">
                <a:solidFill>
                  <a:schemeClr val="tx1"/>
                </a:solidFill>
              </a:rPr>
              <a:t>Run</a:t>
            </a:r>
            <a:endParaRPr lang="en-US" sz="2000" dirty="0"/>
          </a:p>
        </p:txBody>
      </p:sp>
      <p:sp>
        <p:nvSpPr>
          <p:cNvPr id="15" name="Text 10"/>
          <p:cNvSpPr txBox="1"/>
          <p:nvPr/>
        </p:nvSpPr>
        <p:spPr>
          <a:xfrm>
            <a:off x="4553712" y="2560320"/>
            <a:ext cx="3108960" cy="502920"/>
          </a:xfrm>
          <a:prstGeom prst="rect">
            <a:avLst/>
          </a:prstGeom>
          <a:noFill/>
          <a:ln/>
        </p:spPr>
        <p:txBody>
          <a:bodyPr wrap="square" lIns="0" tIns="0" rIns="0" bIns="0" rtlCol="0" anchor="ctr"/>
          <a:lstStyle/>
          <a:p>
            <a:pPr indent="0" marL="0">
              <a:buNone/>
            </a:pPr>
            <a:r>
              <a:rPr lang="en-US" sz="2600" b="1" dirty="0">
                <a:solidFill>
                  <a:schemeClr val="accent1"/>
                </a:solidFill>
              </a:rPr>
              <a:t>€ [ ___ ]</a:t>
            </a:r>
            <a:pPr indent="0" marL="0">
              <a:buNone/>
            </a:pPr>
            <a:r>
              <a:rPr lang="en-US" sz="1400" dirty="0">
                <a:solidFill>
                  <a:schemeClr val="tx2"/>
                </a:solidFill>
              </a:rPr>
              <a:t>  per year</a:t>
            </a:r>
            <a:endParaRPr lang="en-US" sz="2600" dirty="0"/>
          </a:p>
        </p:txBody>
      </p:sp>
      <p:sp>
        <p:nvSpPr>
          <p:cNvPr id="16" name="Text 11"/>
          <p:cNvSpPr txBox="1"/>
          <p:nvPr/>
        </p:nvSpPr>
        <p:spPr>
          <a:xfrm>
            <a:off x="4553712" y="3200400"/>
            <a:ext cx="3108960" cy="822960"/>
          </a:xfrm>
          <a:prstGeom prst="rect">
            <a:avLst/>
          </a:prstGeom>
          <a:noFill/>
          <a:ln/>
        </p:spPr>
        <p:txBody>
          <a:bodyPr wrap="square" lIns="0" tIns="0" rIns="0" bIns="0" rtlCol="0" anchor="t"/>
          <a:lstStyle/>
          <a:p>
            <a:pPr indent="0" marL="0">
              <a:buNone/>
            </a:pPr>
            <a:r>
              <a:rPr lang="en-US" sz="1400" dirty="0">
                <a:solidFill>
                  <a:schemeClr val="tx2"/>
                </a:solidFill>
              </a:rPr>
              <a:t>Hosting, maintenance and support.</a:t>
            </a:r>
            <a:endParaRPr lang="en-US" sz="1400" dirty="0"/>
          </a:p>
        </p:txBody>
      </p:sp>
      <p:sp>
        <p:nvSpPr>
          <p:cNvPr id="17" name="Carte"/>
          <p:cNvSpPr/>
          <p:nvPr/>
        </p:nvSpPr>
        <p:spPr>
          <a:xfrm>
            <a:off x="8046720" y="1645920"/>
            <a:ext cx="3593592" cy="2514600"/>
          </a:xfrm>
          <a:prstGeom prst="roundRect">
            <a:avLst>
              <a:gd name="adj" fmla="val 3636"/>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18" name="Pastille icône"/>
          <p:cNvSpPr/>
          <p:nvPr/>
        </p:nvSpPr>
        <p:spPr>
          <a:xfrm>
            <a:off x="8302752" y="1874520"/>
            <a:ext cx="502920" cy="502920"/>
          </a:xfrm>
          <a:prstGeom prst="ellipse">
            <a:avLst/>
          </a:prstGeom>
          <a:solidFill>
            <a:schemeClr val="accent2"/>
          </a:solidFill>
          <a:ln/>
        </p:spPr>
      </p:sp>
      <p:pic>
        <p:nvPicPr>
          <p:cNvPr id="19" name="Image 2" descr="database">    </p:cNvPr>
          <p:cNvPicPr>
            <a:picLocks noChangeAspect="1"/>
          </p:cNvPicPr>
          <p:nvPr/>
        </p:nvPicPr>
        <p:blipFill>
          <a:blip r:embed="rId3"/>
          <a:stretch>
            <a:fillRect/>
          </a:stretch>
        </p:blipFill>
        <p:spPr>
          <a:xfrm>
            <a:off x="8428482" y="2000250"/>
            <a:ext cx="251460" cy="251460"/>
          </a:xfrm>
          <a:prstGeom prst="rect">
            <a:avLst/>
          </a:prstGeom>
        </p:spPr>
      </p:pic>
      <p:sp>
        <p:nvSpPr>
          <p:cNvPr id="20" name="Text 14"/>
          <p:cNvSpPr txBox="1"/>
          <p:nvPr/>
        </p:nvSpPr>
        <p:spPr>
          <a:xfrm>
            <a:off x="8961120" y="1947672"/>
            <a:ext cx="2468880" cy="365760"/>
          </a:xfrm>
          <a:prstGeom prst="rect">
            <a:avLst/>
          </a:prstGeom>
          <a:noFill/>
          <a:ln/>
        </p:spPr>
        <p:txBody>
          <a:bodyPr wrap="square" lIns="0" tIns="0" rIns="0" bIns="0" rtlCol="0" anchor="t"/>
          <a:lstStyle/>
          <a:p>
            <a:pPr indent="0" marL="0">
              <a:buNone/>
            </a:pPr>
            <a:r>
              <a:rPr lang="en-US" sz="2000" b="1" dirty="0">
                <a:solidFill>
                  <a:schemeClr val="tx1"/>
                </a:solidFill>
              </a:rPr>
              <a:t>Data</a:t>
            </a:r>
            <a:endParaRPr lang="en-US" sz="2000" dirty="0"/>
          </a:p>
        </p:txBody>
      </p:sp>
      <p:sp>
        <p:nvSpPr>
          <p:cNvPr id="21" name="Text 15"/>
          <p:cNvSpPr txBox="1"/>
          <p:nvPr/>
        </p:nvSpPr>
        <p:spPr>
          <a:xfrm>
            <a:off x="8302752" y="2560320"/>
            <a:ext cx="3108960" cy="502920"/>
          </a:xfrm>
          <a:prstGeom prst="rect">
            <a:avLst/>
          </a:prstGeom>
          <a:noFill/>
          <a:ln/>
        </p:spPr>
        <p:txBody>
          <a:bodyPr wrap="square" lIns="0" tIns="0" rIns="0" bIns="0" rtlCol="0" anchor="ctr"/>
          <a:lstStyle/>
          <a:p>
            <a:pPr indent="0" marL="0">
              <a:buNone/>
            </a:pPr>
            <a:r>
              <a:rPr lang="en-US" sz="2600" b="1" dirty="0">
                <a:solidFill>
                  <a:schemeClr val="accent1"/>
                </a:solidFill>
              </a:rPr>
              <a:t>€ [ ___ ]</a:t>
            </a:r>
            <a:pPr indent="0" marL="0">
              <a:buNone/>
            </a:pPr>
            <a:r>
              <a:rPr lang="en-US" sz="1400" dirty="0">
                <a:solidFill>
                  <a:schemeClr val="tx2"/>
                </a:solidFill>
              </a:rPr>
              <a:t>  per year</a:t>
            </a:r>
            <a:endParaRPr lang="en-US" sz="2600" dirty="0"/>
          </a:p>
        </p:txBody>
      </p:sp>
      <p:sp>
        <p:nvSpPr>
          <p:cNvPr id="22" name="Text 16"/>
          <p:cNvSpPr txBox="1"/>
          <p:nvPr/>
        </p:nvSpPr>
        <p:spPr>
          <a:xfrm>
            <a:off x="8302752" y="3200400"/>
            <a:ext cx="3108960" cy="822960"/>
          </a:xfrm>
          <a:prstGeom prst="rect">
            <a:avLst/>
          </a:prstGeom>
          <a:noFill/>
          <a:ln/>
        </p:spPr>
        <p:txBody>
          <a:bodyPr wrap="square" lIns="0" tIns="0" rIns="0" bIns="0" rtlCol="0" anchor="t"/>
          <a:lstStyle/>
          <a:p>
            <a:pPr indent="0" marL="0">
              <a:buNone/>
            </a:pPr>
            <a:r>
              <a:rPr lang="en-US" sz="1400" dirty="0">
                <a:solidFill>
                  <a:schemeClr val="tx2"/>
                </a:solidFill>
              </a:rPr>
              <a:t>Integrating club sources (GPS, medical) and checking FC 27 data licensing.</a:t>
            </a:r>
            <a:endParaRPr lang="en-US" sz="1400" dirty="0"/>
          </a:p>
        </p:txBody>
      </p:sp>
      <p:sp>
        <p:nvSpPr>
          <p:cNvPr id="23" name="Carte"/>
          <p:cNvSpPr/>
          <p:nvPr/>
        </p:nvSpPr>
        <p:spPr>
          <a:xfrm>
            <a:off x="548640" y="4389120"/>
            <a:ext cx="11091672" cy="1325880"/>
          </a:xfrm>
          <a:prstGeom prst="roundRect">
            <a:avLst>
              <a:gd name="adj" fmla="val 6897"/>
            </a:avLst>
          </a:prstGeom>
          <a:solidFill>
            <a:schemeClr val="accent2"/>
          </a:solidFill>
          <a:ln w="9525">
            <a:solidFill>
              <a:schemeClr val="accent2"/>
            </a:solidFill>
            <a:prstDash val="solid"/>
          </a:ln>
        </p:spPr>
      </p:sp>
      <p:sp>
        <p:nvSpPr>
          <p:cNvPr id="24" name="Text 18"/>
          <p:cNvSpPr txBox="1"/>
          <p:nvPr/>
        </p:nvSpPr>
        <p:spPr>
          <a:xfrm>
            <a:off x="822960" y="4572000"/>
            <a:ext cx="3291840" cy="320040"/>
          </a:xfrm>
          <a:prstGeom prst="rect">
            <a:avLst/>
          </a:prstGeom>
          <a:noFill/>
          <a:ln/>
        </p:spPr>
        <p:txBody>
          <a:bodyPr wrap="square" lIns="0" tIns="0" rIns="0" bIns="0" rtlCol="0" anchor="t"/>
          <a:lstStyle/>
          <a:p>
            <a:pPr indent="0" marL="0">
              <a:buNone/>
            </a:pPr>
            <a:r>
              <a:rPr lang="en-US" sz="1800" b="1" dirty="0">
                <a:solidFill>
                  <a:schemeClr val="tx1"/>
                </a:solidFill>
              </a:rPr>
              <a:t>Proposed revenue model</a:t>
            </a:r>
            <a:endParaRPr lang="en-US" sz="1800" dirty="0"/>
          </a:p>
        </p:txBody>
      </p:sp>
      <p:sp>
        <p:nvSpPr>
          <p:cNvPr id="25" name="Text 19"/>
          <p:cNvSpPr txBox="1"/>
          <p:nvPr/>
        </p:nvSpPr>
        <p:spPr>
          <a:xfrm>
            <a:off x="822960" y="4956048"/>
            <a:ext cx="3291840" cy="548640"/>
          </a:xfrm>
          <a:prstGeom prst="rect">
            <a:avLst/>
          </a:prstGeom>
          <a:noFill/>
          <a:ln/>
        </p:spPr>
        <p:txBody>
          <a:bodyPr wrap="square" lIns="0" tIns="0" rIns="0" bIns="0" rtlCol="0" anchor="t"/>
          <a:lstStyle/>
          <a:p>
            <a:pPr indent="0" marL="0">
              <a:buNone/>
            </a:pPr>
            <a:r>
              <a:rPr lang="en-US" sz="1400" dirty="0">
                <a:solidFill>
                  <a:schemeClr val="tx2"/>
                </a:solidFill>
              </a:rPr>
              <a:t>Simple for the club to budget for.</a:t>
            </a:r>
            <a:endParaRPr lang="en-US" sz="1400" dirty="0"/>
          </a:p>
        </p:txBody>
      </p:sp>
      <p:sp>
        <p:nvSpPr>
          <p:cNvPr id="26" name="Étiquette"/>
          <p:cNvSpPr/>
          <p:nvPr/>
        </p:nvSpPr>
        <p:spPr>
          <a:xfrm>
            <a:off x="4023360" y="4709160"/>
            <a:ext cx="3566160" cy="640080"/>
          </a:xfrm>
          <a:prstGeom prst="roundRect">
            <a:avLst>
              <a:gd name="adj" fmla="val 21429"/>
            </a:avLst>
          </a:prstGeom>
          <a:solidFill>
            <a:schemeClr val="bg1"/>
          </a:solidFill>
          <a:ln w="9525">
            <a:solidFill>
              <a:schemeClr val="accent1"/>
            </a:solidFill>
          </a:ln>
        </p:spPr>
        <p:txBody>
          <a:bodyPr wrap="square" lIns="508" tIns="508" rIns="508" bIns="508" rtlCol="0" anchor="ctr"/>
          <a:lstStyle/>
          <a:p>
            <a:pPr algn="ctr" indent="0" marL="0">
              <a:buNone/>
            </a:pPr>
            <a:r>
              <a:rPr lang="en-US" sz="1500" b="1" dirty="0">
                <a:solidFill>
                  <a:schemeClr val="accent1"/>
                </a:solidFill>
              </a:rPr>
              <a:t>Annual club licence   € [ ___ ] / year</a:t>
            </a:r>
            <a:endParaRPr lang="en-US" sz="1500" dirty="0"/>
          </a:p>
        </p:txBody>
      </p:sp>
      <p:sp>
        <p:nvSpPr>
          <p:cNvPr id="27" name="Étiquette"/>
          <p:cNvSpPr/>
          <p:nvPr/>
        </p:nvSpPr>
        <p:spPr>
          <a:xfrm>
            <a:off x="7726680" y="4709160"/>
            <a:ext cx="3703320" cy="640080"/>
          </a:xfrm>
          <a:prstGeom prst="roundRect">
            <a:avLst>
              <a:gd name="adj" fmla="val 21429"/>
            </a:avLst>
          </a:prstGeom>
          <a:solidFill>
            <a:schemeClr val="bg1"/>
          </a:solidFill>
          <a:ln w="9525">
            <a:solidFill>
              <a:schemeClr val="accent1"/>
            </a:solidFill>
          </a:ln>
        </p:spPr>
        <p:txBody>
          <a:bodyPr wrap="square" lIns="508" tIns="508" rIns="508" bIns="508" rtlCol="0" anchor="ctr"/>
          <a:lstStyle/>
          <a:p>
            <a:pPr algn="ctr" indent="0" marL="0">
              <a:buNone/>
            </a:pPr>
            <a:r>
              <a:rPr lang="en-US" sz="1500" b="1" dirty="0">
                <a:solidFill>
                  <a:schemeClr val="accent1"/>
                </a:solidFill>
              </a:rPr>
              <a:t>Onboarding &amp; integration   € [ ___ ] one-off</a:t>
            </a:r>
            <a:endParaRPr lang="en-US" sz="1500" dirty="0"/>
          </a:p>
        </p:txBody>
      </p:sp>
      <p:pic>
        <p:nvPicPr>
          <p:cNvPr id="28" name="Image 3" descr="Attention">    </p:cNvPr>
          <p:cNvPicPr>
            <a:picLocks noChangeAspect="1"/>
          </p:cNvPicPr>
          <p:nvPr/>
        </p:nvPicPr>
        <p:blipFill>
          <a:blip r:embed="rId4"/>
          <a:stretch>
            <a:fillRect/>
          </a:stretch>
        </p:blipFill>
        <p:spPr>
          <a:xfrm>
            <a:off x="548640" y="5943600"/>
            <a:ext cx="182880" cy="182880"/>
          </a:xfrm>
          <a:prstGeom prst="rect">
            <a:avLst/>
          </a:prstGeom>
        </p:spPr>
      </p:pic>
      <p:sp>
        <p:nvSpPr>
          <p:cNvPr id="29" name="Text 22"/>
          <p:cNvSpPr txBox="1"/>
          <p:nvPr/>
        </p:nvSpPr>
        <p:spPr>
          <a:xfrm>
            <a:off x="822960" y="5943600"/>
            <a:ext cx="8229600" cy="228600"/>
          </a:xfrm>
          <a:prstGeom prst="rect">
            <a:avLst/>
          </a:prstGeom>
          <a:noFill/>
          <a:ln/>
        </p:spPr>
        <p:txBody>
          <a:bodyPr wrap="square" lIns="0" tIns="0" rIns="0" bIns="0" rtlCol="0" anchor="t"/>
          <a:lstStyle/>
          <a:p>
            <a:pPr indent="0" marL="0">
              <a:buNone/>
            </a:pPr>
            <a:r>
              <a:rPr lang="en-US" sz="1100" b="1" dirty="0">
                <a:solidFill>
                  <a:schemeClr val="accent1"/>
                </a:solidFill>
              </a:rPr>
              <a:t>Placeholder values [ ___ ] to be replaced with the final figures before presenting.</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64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300" b="1" spc="200" kern="0" dirty="0">
                <a:solidFill>
                  <a:schemeClr val="accent1"/>
                </a:solidFill>
              </a:rPr>
              <a:t>FINANCE</a:t>
            </a:r>
            <a:endParaRPr lang="en-US" sz="1300" dirty="0"/>
          </a:p>
        </p:txBody>
      </p:sp>
      <p:sp>
        <p:nvSpPr>
          <p:cNvPr id="3" name="Text 1"/>
          <p:cNvSpPr/>
          <p:nvPr>
            <p:ph idx="103"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Where the return for the club comes from</a:t>
            </a:r>
            <a:endParaRPr lang="en-US" sz="3200" dirty="0"/>
          </a:p>
        </p:txBody>
      </p:sp>
      <p:sp>
        <p:nvSpPr>
          <p:cNvPr id="5" name="Carte"/>
          <p:cNvSpPr/>
          <p:nvPr/>
        </p:nvSpPr>
        <p:spPr>
          <a:xfrm>
            <a:off x="548640" y="1645920"/>
            <a:ext cx="3593592" cy="2697480"/>
          </a:xfrm>
          <a:prstGeom prst="roundRect">
            <a:avLst>
              <a:gd name="adj" fmla="val 3390"/>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6" name="Pastille icône"/>
          <p:cNvSpPr/>
          <p:nvPr/>
        </p:nvSpPr>
        <p:spPr>
          <a:xfrm>
            <a:off x="804672" y="1874520"/>
            <a:ext cx="502920" cy="502920"/>
          </a:xfrm>
          <a:prstGeom prst="ellipse">
            <a:avLst/>
          </a:prstGeom>
          <a:solidFill>
            <a:schemeClr val="accent2"/>
          </a:solidFill>
          <a:ln/>
        </p:spPr>
      </p:sp>
      <p:pic>
        <p:nvPicPr>
          <p:cNvPr id="7" name="Image 0" descr="heart">    </p:cNvPr>
          <p:cNvPicPr>
            <a:picLocks noChangeAspect="1"/>
          </p:cNvPicPr>
          <p:nvPr/>
        </p:nvPicPr>
        <p:blipFill>
          <a:blip r:embed="rId1"/>
          <a:stretch>
            <a:fillRect/>
          </a:stretch>
        </p:blipFill>
        <p:spPr>
          <a:xfrm>
            <a:off x="930402" y="2000250"/>
            <a:ext cx="251460" cy="251460"/>
          </a:xfrm>
          <a:prstGeom prst="rect">
            <a:avLst/>
          </a:prstGeom>
        </p:spPr>
      </p:pic>
      <p:sp>
        <p:nvSpPr>
          <p:cNvPr id="8" name="Text 4"/>
          <p:cNvSpPr txBox="1"/>
          <p:nvPr/>
        </p:nvSpPr>
        <p:spPr>
          <a:xfrm>
            <a:off x="1463040" y="1947672"/>
            <a:ext cx="2560320" cy="365760"/>
          </a:xfrm>
          <a:prstGeom prst="rect">
            <a:avLst/>
          </a:prstGeom>
          <a:noFill/>
          <a:ln/>
        </p:spPr>
        <p:txBody>
          <a:bodyPr wrap="square" lIns="0" tIns="0" rIns="0" bIns="0" rtlCol="0" anchor="t"/>
          <a:lstStyle/>
          <a:p>
            <a:pPr indent="0" marL="0">
              <a:buNone/>
            </a:pPr>
            <a:r>
              <a:rPr lang="en-US" sz="1800" b="1" dirty="0">
                <a:solidFill>
                  <a:schemeClr val="tx1"/>
                </a:solidFill>
              </a:rPr>
              <a:t>Fewer injury days</a:t>
            </a:r>
            <a:endParaRPr lang="en-US" sz="1800" dirty="0"/>
          </a:p>
        </p:txBody>
      </p:sp>
      <p:sp>
        <p:nvSpPr>
          <p:cNvPr id="9" name="Text 5"/>
          <p:cNvSpPr txBox="1"/>
          <p:nvPr/>
        </p:nvSpPr>
        <p:spPr>
          <a:xfrm>
            <a:off x="804672" y="2606040"/>
            <a:ext cx="3108960" cy="548640"/>
          </a:xfrm>
          <a:prstGeom prst="rect">
            <a:avLst/>
          </a:prstGeom>
          <a:noFill/>
          <a:ln/>
        </p:spPr>
        <p:txBody>
          <a:bodyPr wrap="square" lIns="0" tIns="0" rIns="0" bIns="0" rtlCol="0" anchor="t"/>
          <a:lstStyle/>
          <a:p>
            <a:pPr indent="0" marL="0">
              <a:buNone/>
            </a:pPr>
            <a:r>
              <a:rPr lang="en-US" sz="3000" b="1" dirty="0">
                <a:solidFill>
                  <a:schemeClr val="accent1"/>
                </a:solidFill>
              </a:rPr>
              <a:t>[ X ] days</a:t>
            </a:r>
            <a:endParaRPr lang="en-US" sz="3000" dirty="0"/>
          </a:p>
        </p:txBody>
      </p:sp>
      <p:sp>
        <p:nvSpPr>
          <p:cNvPr id="10" name="Text 6"/>
          <p:cNvSpPr txBox="1"/>
          <p:nvPr/>
        </p:nvSpPr>
        <p:spPr>
          <a:xfrm>
            <a:off x="804672" y="3337560"/>
            <a:ext cx="3108960" cy="868680"/>
          </a:xfrm>
          <a:prstGeom prst="rect">
            <a:avLst/>
          </a:prstGeom>
          <a:noFill/>
          <a:ln/>
        </p:spPr>
        <p:txBody>
          <a:bodyPr wrap="square" lIns="0" tIns="0" rIns="0" bIns="0" rtlCol="0" anchor="t"/>
          <a:lstStyle/>
          <a:p>
            <a:pPr indent="0" marL="0">
              <a:buNone/>
            </a:pPr>
            <a:r>
              <a:rPr lang="en-US" sz="1400" dirty="0">
                <a:solidFill>
                  <a:schemeClr val="tx2"/>
                </a:solidFill>
              </a:rPr>
              <a:t>injury days avoided per season, thanks to early overload alerts</a:t>
            </a:r>
            <a:endParaRPr lang="en-US" sz="1400" dirty="0"/>
          </a:p>
        </p:txBody>
      </p:sp>
      <p:sp>
        <p:nvSpPr>
          <p:cNvPr id="11" name="Carte"/>
          <p:cNvSpPr/>
          <p:nvPr/>
        </p:nvSpPr>
        <p:spPr>
          <a:xfrm>
            <a:off x="4297680" y="1645920"/>
            <a:ext cx="3593592" cy="2697480"/>
          </a:xfrm>
          <a:prstGeom prst="roundRect">
            <a:avLst>
              <a:gd name="adj" fmla="val 3390"/>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12" name="Pastille icône"/>
          <p:cNvSpPr/>
          <p:nvPr/>
        </p:nvSpPr>
        <p:spPr>
          <a:xfrm>
            <a:off x="4553712" y="1874520"/>
            <a:ext cx="502920" cy="502920"/>
          </a:xfrm>
          <a:prstGeom prst="ellipse">
            <a:avLst/>
          </a:prstGeom>
          <a:solidFill>
            <a:schemeClr val="accent2"/>
          </a:solidFill>
          <a:ln/>
        </p:spPr>
      </p:sp>
      <p:pic>
        <p:nvPicPr>
          <p:cNvPr id="13" name="Image 1" descr="search">    </p:cNvPr>
          <p:cNvPicPr>
            <a:picLocks noChangeAspect="1"/>
          </p:cNvPicPr>
          <p:nvPr/>
        </p:nvPicPr>
        <p:blipFill>
          <a:blip r:embed="rId2"/>
          <a:stretch>
            <a:fillRect/>
          </a:stretch>
        </p:blipFill>
        <p:spPr>
          <a:xfrm>
            <a:off x="4679442" y="2000250"/>
            <a:ext cx="251460" cy="251460"/>
          </a:xfrm>
          <a:prstGeom prst="rect">
            <a:avLst/>
          </a:prstGeom>
        </p:spPr>
      </p:pic>
      <p:sp>
        <p:nvSpPr>
          <p:cNvPr id="14" name="Text 9"/>
          <p:cNvSpPr txBox="1"/>
          <p:nvPr/>
        </p:nvSpPr>
        <p:spPr>
          <a:xfrm>
            <a:off x="5212080" y="1947672"/>
            <a:ext cx="2560320" cy="365760"/>
          </a:xfrm>
          <a:prstGeom prst="rect">
            <a:avLst/>
          </a:prstGeom>
          <a:noFill/>
          <a:ln/>
        </p:spPr>
        <p:txBody>
          <a:bodyPr wrap="square" lIns="0" tIns="0" rIns="0" bIns="0" rtlCol="0" anchor="t"/>
          <a:lstStyle/>
          <a:p>
            <a:pPr indent="0" marL="0">
              <a:buNone/>
            </a:pPr>
            <a:r>
              <a:rPr lang="en-US" sz="1800" b="1" dirty="0">
                <a:solidFill>
                  <a:schemeClr val="tx1"/>
                </a:solidFill>
              </a:rPr>
              <a:t>Faster, better recruitment</a:t>
            </a:r>
            <a:endParaRPr lang="en-US" sz="1800" dirty="0"/>
          </a:p>
        </p:txBody>
      </p:sp>
      <p:sp>
        <p:nvSpPr>
          <p:cNvPr id="15" name="Text 10"/>
          <p:cNvSpPr txBox="1"/>
          <p:nvPr/>
        </p:nvSpPr>
        <p:spPr>
          <a:xfrm>
            <a:off x="4553712" y="2606040"/>
            <a:ext cx="3108960" cy="548640"/>
          </a:xfrm>
          <a:prstGeom prst="rect">
            <a:avLst/>
          </a:prstGeom>
          <a:noFill/>
          <a:ln/>
        </p:spPr>
        <p:txBody>
          <a:bodyPr wrap="square" lIns="0" tIns="0" rIns="0" bIns="0" rtlCol="0" anchor="t"/>
          <a:lstStyle/>
          <a:p>
            <a:pPr indent="0" marL="0">
              <a:buNone/>
            </a:pPr>
            <a:r>
              <a:rPr lang="en-US" sz="3000" b="1" dirty="0">
                <a:solidFill>
                  <a:schemeClr val="accent1"/>
                </a:solidFill>
              </a:rPr>
              <a:t>[ Y ] hours</a:t>
            </a:r>
            <a:endParaRPr lang="en-US" sz="3000" dirty="0"/>
          </a:p>
        </p:txBody>
      </p:sp>
      <p:sp>
        <p:nvSpPr>
          <p:cNvPr id="16" name="Text 11"/>
          <p:cNvSpPr txBox="1"/>
          <p:nvPr/>
        </p:nvSpPr>
        <p:spPr>
          <a:xfrm>
            <a:off x="4553712" y="3337560"/>
            <a:ext cx="3108960" cy="868680"/>
          </a:xfrm>
          <a:prstGeom prst="rect">
            <a:avLst/>
          </a:prstGeom>
          <a:noFill/>
          <a:ln/>
        </p:spPr>
        <p:txBody>
          <a:bodyPr wrap="square" lIns="0" tIns="0" rIns="0" bIns="0" rtlCol="0" anchor="t"/>
          <a:lstStyle/>
          <a:p>
            <a:pPr indent="0" marL="0">
              <a:buNone/>
            </a:pPr>
            <a:r>
              <a:rPr lang="en-US" sz="1400" dirty="0">
                <a:solidFill>
                  <a:schemeClr val="tx2"/>
                </a:solidFill>
              </a:rPr>
              <a:t>scouting time saved, and a lower risk of a wrong signing</a:t>
            </a:r>
            <a:endParaRPr lang="en-US" sz="1400" dirty="0"/>
          </a:p>
        </p:txBody>
      </p:sp>
      <p:sp>
        <p:nvSpPr>
          <p:cNvPr id="17" name="Carte"/>
          <p:cNvSpPr/>
          <p:nvPr/>
        </p:nvSpPr>
        <p:spPr>
          <a:xfrm>
            <a:off x="8046720" y="1645920"/>
            <a:ext cx="3593592" cy="2697480"/>
          </a:xfrm>
          <a:prstGeom prst="roundRect">
            <a:avLst>
              <a:gd name="adj" fmla="val 3390"/>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18" name="Pastille icône"/>
          <p:cNvSpPr/>
          <p:nvPr/>
        </p:nvSpPr>
        <p:spPr>
          <a:xfrm>
            <a:off x="8302752" y="1874520"/>
            <a:ext cx="502920" cy="502920"/>
          </a:xfrm>
          <a:prstGeom prst="ellipse">
            <a:avLst/>
          </a:prstGeom>
          <a:solidFill>
            <a:schemeClr val="accent2"/>
          </a:solidFill>
          <a:ln/>
        </p:spPr>
      </p:sp>
      <p:pic>
        <p:nvPicPr>
          <p:cNvPr id="19" name="Image 2" descr="clock">    </p:cNvPr>
          <p:cNvPicPr>
            <a:picLocks noChangeAspect="1"/>
          </p:cNvPicPr>
          <p:nvPr/>
        </p:nvPicPr>
        <p:blipFill>
          <a:blip r:embed="rId3"/>
          <a:stretch>
            <a:fillRect/>
          </a:stretch>
        </p:blipFill>
        <p:spPr>
          <a:xfrm>
            <a:off x="8428482" y="2000250"/>
            <a:ext cx="251460" cy="251460"/>
          </a:xfrm>
          <a:prstGeom prst="rect">
            <a:avLst/>
          </a:prstGeom>
        </p:spPr>
      </p:pic>
      <p:sp>
        <p:nvSpPr>
          <p:cNvPr id="20" name="Text 14"/>
          <p:cNvSpPr txBox="1"/>
          <p:nvPr/>
        </p:nvSpPr>
        <p:spPr>
          <a:xfrm>
            <a:off x="8961120" y="1947672"/>
            <a:ext cx="2560320" cy="365760"/>
          </a:xfrm>
          <a:prstGeom prst="rect">
            <a:avLst/>
          </a:prstGeom>
          <a:noFill/>
          <a:ln/>
        </p:spPr>
        <p:txBody>
          <a:bodyPr wrap="square" lIns="0" tIns="0" rIns="0" bIns="0" rtlCol="0" anchor="t"/>
          <a:lstStyle/>
          <a:p>
            <a:pPr indent="0" marL="0">
              <a:buNone/>
            </a:pPr>
            <a:r>
              <a:rPr lang="en-US" sz="1800" b="1" dirty="0">
                <a:solidFill>
                  <a:schemeClr val="tx1"/>
                </a:solidFill>
              </a:rPr>
              <a:t>Less manual work</a:t>
            </a:r>
            <a:endParaRPr lang="en-US" sz="1800" dirty="0"/>
          </a:p>
        </p:txBody>
      </p:sp>
      <p:sp>
        <p:nvSpPr>
          <p:cNvPr id="21" name="Text 15"/>
          <p:cNvSpPr txBox="1"/>
          <p:nvPr/>
        </p:nvSpPr>
        <p:spPr>
          <a:xfrm>
            <a:off x="8302752" y="2606040"/>
            <a:ext cx="3108960" cy="548640"/>
          </a:xfrm>
          <a:prstGeom prst="rect">
            <a:avLst/>
          </a:prstGeom>
          <a:noFill/>
          <a:ln/>
        </p:spPr>
        <p:txBody>
          <a:bodyPr wrap="square" lIns="0" tIns="0" rIns="0" bIns="0" rtlCol="0" anchor="t"/>
          <a:lstStyle/>
          <a:p>
            <a:pPr indent="0" marL="0">
              <a:buNone/>
            </a:pPr>
            <a:r>
              <a:rPr lang="en-US" sz="3000" b="1" dirty="0">
                <a:solidFill>
                  <a:schemeClr val="accent1"/>
                </a:solidFill>
              </a:rPr>
              <a:t>[ Z ] h / week</a:t>
            </a:r>
            <a:endParaRPr lang="en-US" sz="3000" dirty="0"/>
          </a:p>
        </p:txBody>
      </p:sp>
      <p:sp>
        <p:nvSpPr>
          <p:cNvPr id="22" name="Text 16"/>
          <p:cNvSpPr txBox="1"/>
          <p:nvPr/>
        </p:nvSpPr>
        <p:spPr>
          <a:xfrm>
            <a:off x="8302752" y="3337560"/>
            <a:ext cx="3108960" cy="868680"/>
          </a:xfrm>
          <a:prstGeom prst="rect">
            <a:avLst/>
          </a:prstGeom>
          <a:noFill/>
          <a:ln/>
        </p:spPr>
        <p:txBody>
          <a:bodyPr wrap="square" lIns="0" tIns="0" rIns="0" bIns="0" rtlCol="0" anchor="t"/>
          <a:lstStyle/>
          <a:p>
            <a:pPr indent="0" marL="0">
              <a:buNone/>
            </a:pPr>
            <a:r>
              <a:rPr lang="en-US" sz="1400" dirty="0">
                <a:solidFill>
                  <a:schemeClr val="tx2"/>
                </a:solidFill>
              </a:rPr>
              <a:t>staff time saved with one source of truth instead of many files</a:t>
            </a:r>
            <a:endParaRPr lang="en-US" sz="1400" dirty="0"/>
          </a:p>
        </p:txBody>
      </p:sp>
      <p:sp>
        <p:nvSpPr>
          <p:cNvPr id="23" name="Étiquette"/>
          <p:cNvSpPr/>
          <p:nvPr/>
        </p:nvSpPr>
        <p:spPr>
          <a:xfrm>
            <a:off x="548640" y="4663440"/>
            <a:ext cx="2560320" cy="777240"/>
          </a:xfrm>
          <a:prstGeom prst="roundRect">
            <a:avLst>
              <a:gd name="adj" fmla="val 17647"/>
            </a:avLst>
          </a:prstGeom>
          <a:solidFill>
            <a:schemeClr val="bg1"/>
          </a:solidFill>
          <a:ln w="9525">
            <a:solidFill>
              <a:schemeClr val="accent6"/>
            </a:solidFill>
          </a:ln>
        </p:spPr>
        <p:txBody>
          <a:bodyPr wrap="square" lIns="508" tIns="508" rIns="508" bIns="508" rtlCol="0" anchor="ctr"/>
          <a:lstStyle/>
          <a:p>
            <a:pPr algn="ctr" indent="0" marL="0">
              <a:buNone/>
            </a:pPr>
            <a:r>
              <a:rPr lang="en-US" sz="1500" b="1" dirty="0">
                <a:solidFill>
                  <a:schemeClr val="tx1"/>
                </a:solidFill>
              </a:rPr>
              <a:t>Annual value  € [ ___ ]</a:t>
            </a:r>
            <a:endParaRPr lang="en-US" sz="1500" dirty="0"/>
          </a:p>
        </p:txBody>
      </p:sp>
      <p:sp>
        <p:nvSpPr>
          <p:cNvPr id="24" name="Text 18"/>
          <p:cNvSpPr txBox="1"/>
          <p:nvPr/>
        </p:nvSpPr>
        <p:spPr>
          <a:xfrm>
            <a:off x="3200400" y="4663440"/>
            <a:ext cx="365760" cy="777240"/>
          </a:xfrm>
          <a:prstGeom prst="rect">
            <a:avLst/>
          </a:prstGeom>
          <a:noFill/>
          <a:ln/>
        </p:spPr>
        <p:txBody>
          <a:bodyPr wrap="square" lIns="0" tIns="0" rIns="0" bIns="0" rtlCol="0" anchor="ctr"/>
          <a:lstStyle/>
          <a:p>
            <a:pPr algn="ctr" indent="0" marL="0">
              <a:buNone/>
            </a:pPr>
            <a:r>
              <a:rPr lang="en-US" sz="2800" b="1" dirty="0">
                <a:solidFill>
                  <a:schemeClr val="tx2"/>
                </a:solidFill>
              </a:rPr>
              <a:t>−</a:t>
            </a:r>
            <a:endParaRPr lang="en-US" sz="2800" dirty="0"/>
          </a:p>
        </p:txBody>
      </p:sp>
      <p:sp>
        <p:nvSpPr>
          <p:cNvPr id="25" name="Étiquette"/>
          <p:cNvSpPr/>
          <p:nvPr/>
        </p:nvSpPr>
        <p:spPr>
          <a:xfrm>
            <a:off x="3611880" y="4663440"/>
            <a:ext cx="2560320" cy="777240"/>
          </a:xfrm>
          <a:prstGeom prst="roundRect">
            <a:avLst>
              <a:gd name="adj" fmla="val 17647"/>
            </a:avLst>
          </a:prstGeom>
          <a:solidFill>
            <a:schemeClr val="bg1"/>
          </a:solidFill>
          <a:ln w="9525">
            <a:solidFill>
              <a:schemeClr val="accent6"/>
            </a:solidFill>
          </a:ln>
        </p:spPr>
        <p:txBody>
          <a:bodyPr wrap="square" lIns="508" tIns="508" rIns="508" bIns="508" rtlCol="0" anchor="ctr"/>
          <a:lstStyle/>
          <a:p>
            <a:pPr algn="ctr" indent="0" marL="0">
              <a:buNone/>
            </a:pPr>
            <a:r>
              <a:rPr lang="en-US" sz="1500" b="1" dirty="0">
                <a:solidFill>
                  <a:schemeClr val="tx1"/>
                </a:solidFill>
              </a:rPr>
              <a:t>Annual cost  € [ ___ ]</a:t>
            </a:r>
            <a:endParaRPr lang="en-US" sz="1500" dirty="0"/>
          </a:p>
        </p:txBody>
      </p:sp>
      <p:sp>
        <p:nvSpPr>
          <p:cNvPr id="26" name="Text 20"/>
          <p:cNvSpPr txBox="1"/>
          <p:nvPr/>
        </p:nvSpPr>
        <p:spPr>
          <a:xfrm>
            <a:off x="6217920" y="4663440"/>
            <a:ext cx="365760" cy="777240"/>
          </a:xfrm>
          <a:prstGeom prst="rect">
            <a:avLst/>
          </a:prstGeom>
          <a:noFill/>
          <a:ln/>
        </p:spPr>
        <p:txBody>
          <a:bodyPr wrap="square" lIns="0" tIns="0" rIns="0" bIns="0" rtlCol="0" anchor="ctr"/>
          <a:lstStyle/>
          <a:p>
            <a:pPr algn="ctr" indent="0" marL="0">
              <a:buNone/>
            </a:pPr>
            <a:r>
              <a:rPr lang="en-US" sz="2800" b="1" dirty="0">
                <a:solidFill>
                  <a:schemeClr val="tx2"/>
                </a:solidFill>
              </a:rPr>
              <a:t>=</a:t>
            </a:r>
            <a:endParaRPr lang="en-US" sz="2800" dirty="0"/>
          </a:p>
        </p:txBody>
      </p:sp>
      <p:sp>
        <p:nvSpPr>
          <p:cNvPr id="27" name="Étiquette"/>
          <p:cNvSpPr/>
          <p:nvPr/>
        </p:nvSpPr>
        <p:spPr>
          <a:xfrm>
            <a:off x="6675120" y="4663440"/>
            <a:ext cx="2377440" cy="777240"/>
          </a:xfrm>
          <a:prstGeom prst="roundRect">
            <a:avLst>
              <a:gd name="adj" fmla="val 17647"/>
            </a:avLst>
          </a:prstGeom>
          <a:solidFill>
            <a:schemeClr val="bg1"/>
          </a:solidFill>
          <a:ln w="9525">
            <a:solidFill>
              <a:schemeClr val="accent6"/>
            </a:solidFill>
          </a:ln>
        </p:spPr>
        <p:txBody>
          <a:bodyPr wrap="square" lIns="508" tIns="508" rIns="508" bIns="508" rtlCol="0" anchor="ctr"/>
          <a:lstStyle/>
          <a:p>
            <a:pPr algn="ctr" indent="0" marL="0">
              <a:buNone/>
            </a:pPr>
            <a:r>
              <a:rPr lang="en-US" sz="1500" b="1" dirty="0">
                <a:solidFill>
                  <a:schemeClr val="tx1"/>
                </a:solidFill>
              </a:rPr>
              <a:t>Net return  € [ ___ ]</a:t>
            </a:r>
            <a:endParaRPr lang="en-US" sz="1500" dirty="0"/>
          </a:p>
        </p:txBody>
      </p:sp>
      <p:sp>
        <p:nvSpPr>
          <p:cNvPr id="28" name="Étiquette"/>
          <p:cNvSpPr/>
          <p:nvPr/>
        </p:nvSpPr>
        <p:spPr>
          <a:xfrm>
            <a:off x="9281160" y="4663440"/>
            <a:ext cx="2359152" cy="777240"/>
          </a:xfrm>
          <a:prstGeom prst="roundRect">
            <a:avLst>
              <a:gd name="adj" fmla="val 17647"/>
            </a:avLst>
          </a:prstGeom>
          <a:solidFill>
            <a:schemeClr val="accent1"/>
          </a:solidFill>
          <a:ln w="9525">
            <a:solidFill>
              <a:schemeClr val="accent1"/>
            </a:solidFill>
          </a:ln>
        </p:spPr>
        <p:txBody>
          <a:bodyPr wrap="square" lIns="508" tIns="508" rIns="508" bIns="508" rtlCol="0" anchor="ctr"/>
          <a:lstStyle/>
          <a:p>
            <a:pPr algn="ctr" indent="0" marL="0">
              <a:buNone/>
            </a:pPr>
            <a:r>
              <a:rPr lang="en-US" sz="1500" b="1" dirty="0">
                <a:solidFill>
                  <a:schemeClr val="bg1"/>
                </a:solidFill>
              </a:rPr>
              <a:t>Break-even</a:t>
            </a:r>
            <a:endParaRPr lang="en-US" sz="1500" dirty="0"/>
          </a:p>
          <a:p>
            <a:pPr algn="ctr" indent="0" marL="0">
              <a:buNone/>
            </a:pPr>
            <a:r>
              <a:rPr lang="en-US" sz="1500" b="1" dirty="0">
                <a:solidFill>
                  <a:schemeClr val="bg1"/>
                </a:solidFill>
              </a:rPr>
              <a:t>[ N ] months</a:t>
            </a:r>
            <a:endParaRPr lang="en-US" sz="1500" dirty="0"/>
          </a:p>
        </p:txBody>
      </p:sp>
      <p:pic>
        <p:nvPicPr>
          <p:cNvPr id="29" name="Image 3" descr="Attention">    </p:cNvPr>
          <p:cNvPicPr>
            <a:picLocks noChangeAspect="1"/>
          </p:cNvPicPr>
          <p:nvPr/>
        </p:nvPicPr>
        <p:blipFill>
          <a:blip r:embed="rId4"/>
          <a:stretch>
            <a:fillRect/>
          </a:stretch>
        </p:blipFill>
        <p:spPr>
          <a:xfrm>
            <a:off x="548640" y="5943600"/>
            <a:ext cx="182880" cy="182880"/>
          </a:xfrm>
          <a:prstGeom prst="rect">
            <a:avLst/>
          </a:prstGeom>
        </p:spPr>
      </p:pic>
      <p:sp>
        <p:nvSpPr>
          <p:cNvPr id="30" name="Text 23"/>
          <p:cNvSpPr txBox="1"/>
          <p:nvPr/>
        </p:nvSpPr>
        <p:spPr>
          <a:xfrm>
            <a:off x="822960" y="5943600"/>
            <a:ext cx="8229600" cy="228600"/>
          </a:xfrm>
          <a:prstGeom prst="rect">
            <a:avLst/>
          </a:prstGeom>
          <a:noFill/>
          <a:ln/>
        </p:spPr>
        <p:txBody>
          <a:bodyPr wrap="square" lIns="0" tIns="0" rIns="0" bIns="0" rtlCol="0" anchor="t"/>
          <a:lstStyle/>
          <a:p>
            <a:pPr indent="0" marL="0">
              <a:buNone/>
            </a:pPr>
            <a:r>
              <a:rPr lang="en-US" sz="1100" b="1" dirty="0">
                <a:solidFill>
                  <a:schemeClr val="accent1"/>
                </a:solidFill>
              </a:rPr>
              <a:t>Placeholder values [ ___ ] to be replaced with the final figures before presenting.</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64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algn="l" indent="0" marL="0">
              <a:buNone/>
            </a:pPr>
            <a:r>
              <a:rPr lang="en-US" sz="1300" b="1" spc="200" kern="0" dirty="0">
                <a:solidFill>
                  <a:schemeClr val="accent1"/>
                </a:solidFill>
              </a:rPr>
              <a:t>COMMUNICATION</a:t>
            </a:r>
            <a:endParaRPr lang="en-US" sz="1300" dirty="0"/>
          </a:p>
        </p:txBody>
      </p:sp>
      <p:sp>
        <p:nvSpPr>
          <p:cNvPr id="3" name="Text 1"/>
          <p:cNvSpPr/>
          <p:nvPr>
            <p:ph idx="103"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Un langage commun pour tout le club</a:t>
            </a:r>
            <a:endParaRPr lang="en-US" sz="3200" dirty="0"/>
          </a:p>
        </p:txBody>
      </p:sp>
      <p:sp>
        <p:nvSpPr>
          <p:cNvPr id="5" name="Carte"/>
          <p:cNvSpPr/>
          <p:nvPr/>
        </p:nvSpPr>
        <p:spPr>
          <a:xfrm>
            <a:off x="548640" y="1645920"/>
            <a:ext cx="3931920" cy="2606040"/>
          </a:xfrm>
          <a:prstGeom prst="roundRect">
            <a:avLst>
              <a:gd name="adj" fmla="val 3509"/>
            </a:avLst>
          </a:prstGeom>
          <a:solidFill>
            <a:schemeClr val="bg1"/>
          </a:solidFill>
          <a:ln w="9525">
            <a:solidFill>
              <a:schemeClr val="accent6"/>
            </a:solidFill>
            <a:prstDash val="solid"/>
          </a:ln>
          <a:effectLst>
            <a:outerShdw sx="100000" sy="100000" kx="0" ky="0" algn="bl" rotWithShape="0" blurRad="76200" dist="25400" dir="5400000">
              <a:srgbClr val="000000">
                <a:alpha val="7000"/>
              </a:srgbClr>
            </a:outerShdw>
          </a:effectLst>
        </p:spPr>
      </p:sp>
      <p:sp>
        <p:nvSpPr>
          <p:cNvPr id="6" name="Text 3"/>
          <p:cNvSpPr txBox="1"/>
          <p:nvPr/>
        </p:nvSpPr>
        <p:spPr>
          <a:xfrm>
            <a:off x="777240" y="1828800"/>
            <a:ext cx="3474720" cy="274320"/>
          </a:xfrm>
          <a:prstGeom prst="rect">
            <a:avLst/>
          </a:prstGeom>
          <a:noFill/>
          <a:ln/>
        </p:spPr>
        <p:txBody>
          <a:bodyPr wrap="square" lIns="0" tIns="0" rIns="0" bIns="0" rtlCol="0" anchor="t"/>
          <a:lstStyle/>
          <a:p>
            <a:pPr indent="0" marL="0">
              <a:buNone/>
            </a:pPr>
            <a:r>
              <a:rPr lang="en-US" sz="1400" b="1" dirty="0">
                <a:solidFill>
                  <a:schemeClr val="tx2"/>
                </a:solidFill>
              </a:rPr>
              <a:t>Aujourd'hui</a:t>
            </a:r>
            <a:endParaRPr lang="en-US" sz="1400" dirty="0"/>
          </a:p>
        </p:txBody>
      </p:sp>
      <p:sp>
        <p:nvSpPr>
          <p:cNvPr id="7" name="Étiquette"/>
          <p:cNvSpPr/>
          <p:nvPr/>
        </p:nvSpPr>
        <p:spPr>
          <a:xfrm>
            <a:off x="777240" y="2286000"/>
            <a:ext cx="1143000" cy="402336"/>
          </a:xfrm>
          <a:prstGeom prst="roundRect">
            <a:avLst>
              <a:gd name="adj" fmla="val 34091"/>
            </a:avLst>
          </a:prstGeom>
          <a:solidFill>
            <a:schemeClr val="bg2"/>
          </a:solidFill>
          <a:ln w="9525">
            <a:solidFill>
              <a:schemeClr val="accent6"/>
            </a:solidFill>
          </a:ln>
        </p:spPr>
        <p:txBody>
          <a:bodyPr wrap="square" lIns="508" tIns="508" rIns="508" bIns="508" rtlCol="0" anchor="ctr"/>
          <a:lstStyle/>
          <a:p>
            <a:pPr algn="ctr" indent="0" marL="0">
              <a:buNone/>
            </a:pPr>
            <a:r>
              <a:rPr lang="en-US" sz="1200" b="1" dirty="0">
                <a:solidFill>
                  <a:schemeClr val="tx2"/>
                </a:solidFill>
              </a:rPr>
              <a:t>Tableurs</a:t>
            </a:r>
            <a:endParaRPr lang="en-US" sz="1200" dirty="0"/>
          </a:p>
        </p:txBody>
      </p:sp>
      <p:sp>
        <p:nvSpPr>
          <p:cNvPr id="8" name="Étiquette"/>
          <p:cNvSpPr/>
          <p:nvPr/>
        </p:nvSpPr>
        <p:spPr>
          <a:xfrm>
            <a:off x="2029968" y="2286000"/>
            <a:ext cx="777240" cy="402336"/>
          </a:xfrm>
          <a:prstGeom prst="roundRect">
            <a:avLst>
              <a:gd name="adj" fmla="val 34091"/>
            </a:avLst>
          </a:prstGeom>
          <a:solidFill>
            <a:schemeClr val="bg2"/>
          </a:solidFill>
          <a:ln w="9525">
            <a:solidFill>
              <a:schemeClr val="accent6"/>
            </a:solidFill>
          </a:ln>
        </p:spPr>
        <p:txBody>
          <a:bodyPr wrap="square" lIns="508" tIns="508" rIns="508" bIns="508" rtlCol="0" anchor="ctr"/>
          <a:lstStyle/>
          <a:p>
            <a:pPr algn="ctr" indent="0" marL="0">
              <a:buNone/>
            </a:pPr>
            <a:r>
              <a:rPr lang="en-US" sz="1200" b="1" dirty="0">
                <a:solidFill>
                  <a:schemeClr val="tx2"/>
                </a:solidFill>
              </a:rPr>
              <a:t>GPS</a:t>
            </a:r>
            <a:endParaRPr lang="en-US" sz="1200" dirty="0"/>
          </a:p>
        </p:txBody>
      </p:sp>
      <p:sp>
        <p:nvSpPr>
          <p:cNvPr id="9" name="Étiquette"/>
          <p:cNvSpPr/>
          <p:nvPr/>
        </p:nvSpPr>
        <p:spPr>
          <a:xfrm>
            <a:off x="2916936" y="2286000"/>
            <a:ext cx="1051560" cy="402336"/>
          </a:xfrm>
          <a:prstGeom prst="roundRect">
            <a:avLst>
              <a:gd name="adj" fmla="val 34091"/>
            </a:avLst>
          </a:prstGeom>
          <a:solidFill>
            <a:schemeClr val="bg2"/>
          </a:solidFill>
          <a:ln w="9525">
            <a:solidFill>
              <a:schemeClr val="accent6"/>
            </a:solidFill>
          </a:ln>
        </p:spPr>
        <p:txBody>
          <a:bodyPr wrap="square" lIns="508" tIns="508" rIns="508" bIns="508" rtlCol="0" anchor="ctr"/>
          <a:lstStyle/>
          <a:p>
            <a:pPr algn="ctr" indent="0" marL="0">
              <a:buNone/>
            </a:pPr>
            <a:r>
              <a:rPr lang="en-US" sz="1200" b="1" dirty="0">
                <a:solidFill>
                  <a:schemeClr val="tx2"/>
                </a:solidFill>
              </a:rPr>
              <a:t>Médical</a:t>
            </a:r>
            <a:endParaRPr lang="en-US" sz="1200" dirty="0"/>
          </a:p>
        </p:txBody>
      </p:sp>
      <p:sp>
        <p:nvSpPr>
          <p:cNvPr id="10" name="Étiquette"/>
          <p:cNvSpPr/>
          <p:nvPr/>
        </p:nvSpPr>
        <p:spPr>
          <a:xfrm>
            <a:off x="777240" y="2834640"/>
            <a:ext cx="914400" cy="402336"/>
          </a:xfrm>
          <a:prstGeom prst="roundRect">
            <a:avLst>
              <a:gd name="adj" fmla="val 34091"/>
            </a:avLst>
          </a:prstGeom>
          <a:solidFill>
            <a:schemeClr val="bg2"/>
          </a:solidFill>
          <a:ln w="9525">
            <a:solidFill>
              <a:schemeClr val="accent6"/>
            </a:solidFill>
          </a:ln>
        </p:spPr>
        <p:txBody>
          <a:bodyPr wrap="square" lIns="508" tIns="508" rIns="508" bIns="508" rtlCol="0" anchor="ctr"/>
          <a:lstStyle/>
          <a:p>
            <a:pPr algn="ctr" indent="0" marL="0">
              <a:buNone/>
            </a:pPr>
            <a:r>
              <a:rPr lang="en-US" sz="1200" b="1" dirty="0">
                <a:solidFill>
                  <a:schemeClr val="tx2"/>
                </a:solidFill>
              </a:rPr>
              <a:t>Vidéo</a:t>
            </a:r>
            <a:endParaRPr lang="en-US" sz="1200" dirty="0"/>
          </a:p>
        </p:txBody>
      </p:sp>
      <p:sp>
        <p:nvSpPr>
          <p:cNvPr id="11" name="Étiquette"/>
          <p:cNvSpPr/>
          <p:nvPr/>
        </p:nvSpPr>
        <p:spPr>
          <a:xfrm>
            <a:off x="1801368" y="2834640"/>
            <a:ext cx="1188720" cy="402336"/>
          </a:xfrm>
          <a:prstGeom prst="roundRect">
            <a:avLst>
              <a:gd name="adj" fmla="val 34091"/>
            </a:avLst>
          </a:prstGeom>
          <a:solidFill>
            <a:schemeClr val="bg2"/>
          </a:solidFill>
          <a:ln w="9525">
            <a:solidFill>
              <a:schemeClr val="accent6"/>
            </a:solidFill>
          </a:ln>
        </p:spPr>
        <p:txBody>
          <a:bodyPr wrap="square" lIns="508" tIns="508" rIns="508" bIns="508" rtlCol="0" anchor="ctr"/>
          <a:lstStyle/>
          <a:p>
            <a:pPr algn="ctr" indent="0" marL="0">
              <a:buNone/>
            </a:pPr>
            <a:r>
              <a:rPr lang="en-US" sz="1200" b="1" dirty="0">
                <a:solidFill>
                  <a:schemeClr val="tx2"/>
                </a:solidFill>
              </a:rPr>
              <a:t>Scouting</a:t>
            </a:r>
            <a:endParaRPr lang="en-US" sz="1200" dirty="0"/>
          </a:p>
        </p:txBody>
      </p:sp>
      <p:sp>
        <p:nvSpPr>
          <p:cNvPr id="12" name="Étiquette"/>
          <p:cNvSpPr/>
          <p:nvPr/>
        </p:nvSpPr>
        <p:spPr>
          <a:xfrm>
            <a:off x="3099816" y="2834640"/>
            <a:ext cx="914400" cy="402336"/>
          </a:xfrm>
          <a:prstGeom prst="roundRect">
            <a:avLst>
              <a:gd name="adj" fmla="val 34091"/>
            </a:avLst>
          </a:prstGeom>
          <a:solidFill>
            <a:schemeClr val="bg2"/>
          </a:solidFill>
          <a:ln w="9525">
            <a:solidFill>
              <a:schemeClr val="accent6"/>
            </a:solidFill>
          </a:ln>
        </p:spPr>
        <p:txBody>
          <a:bodyPr wrap="square" lIns="508" tIns="508" rIns="508" bIns="508" rtlCol="0" anchor="ctr"/>
          <a:lstStyle/>
          <a:p>
            <a:pPr algn="ctr" indent="0" marL="0">
              <a:buNone/>
            </a:pPr>
            <a:r>
              <a:rPr lang="en-US" sz="1200" b="1" dirty="0">
                <a:solidFill>
                  <a:schemeClr val="tx2"/>
                </a:solidFill>
              </a:rPr>
              <a:t>Notes</a:t>
            </a:r>
            <a:endParaRPr lang="en-US" sz="1200" dirty="0"/>
          </a:p>
        </p:txBody>
      </p:sp>
      <p:sp>
        <p:nvSpPr>
          <p:cNvPr id="13" name="Étiquette"/>
          <p:cNvSpPr/>
          <p:nvPr/>
        </p:nvSpPr>
        <p:spPr>
          <a:xfrm>
            <a:off x="777240" y="3383280"/>
            <a:ext cx="1417320" cy="402336"/>
          </a:xfrm>
          <a:prstGeom prst="roundRect">
            <a:avLst>
              <a:gd name="adj" fmla="val 34091"/>
            </a:avLst>
          </a:prstGeom>
          <a:solidFill>
            <a:schemeClr val="bg2"/>
          </a:solidFill>
          <a:ln w="9525">
            <a:solidFill>
              <a:schemeClr val="accent6"/>
            </a:solidFill>
          </a:ln>
        </p:spPr>
        <p:txBody>
          <a:bodyPr wrap="square" lIns="508" tIns="508" rIns="508" bIns="508" rtlCol="0" anchor="ctr"/>
          <a:lstStyle/>
          <a:p>
            <a:pPr algn="ctr" indent="0" marL="0">
              <a:buNone/>
            </a:pPr>
            <a:r>
              <a:rPr lang="en-US" sz="1200" b="1" dirty="0">
                <a:solidFill>
                  <a:schemeClr val="tx2"/>
                </a:solidFill>
              </a:rPr>
              <a:t>Messageries</a:t>
            </a:r>
            <a:endParaRPr lang="en-US" sz="1200" dirty="0"/>
          </a:p>
        </p:txBody>
      </p:sp>
      <p:sp>
        <p:nvSpPr>
          <p:cNvPr id="14" name="Flèche"/>
          <p:cNvSpPr/>
          <p:nvPr/>
        </p:nvSpPr>
        <p:spPr>
          <a:xfrm>
            <a:off x="4663440" y="2697480"/>
            <a:ext cx="594360" cy="502920"/>
          </a:xfrm>
          <a:prstGeom prst="rightArrow">
            <a:avLst/>
          </a:prstGeom>
          <a:solidFill>
            <a:schemeClr val="accent1"/>
          </a:solidFill>
          <a:ln/>
        </p:spPr>
      </p:sp>
      <p:sp>
        <p:nvSpPr>
          <p:cNvPr id="15" name="Carte"/>
          <p:cNvSpPr/>
          <p:nvPr/>
        </p:nvSpPr>
        <p:spPr>
          <a:xfrm>
            <a:off x="5440680" y="1645920"/>
            <a:ext cx="6199632" cy="2606040"/>
          </a:xfrm>
          <a:prstGeom prst="roundRect">
            <a:avLst>
              <a:gd name="adj" fmla="val 3509"/>
            </a:avLst>
          </a:prstGeom>
          <a:solidFill>
            <a:schemeClr val="accent2"/>
          </a:solidFill>
          <a:ln w="9525">
            <a:solidFill>
              <a:schemeClr val="accent1"/>
            </a:solidFill>
            <a:prstDash val="solid"/>
          </a:ln>
        </p:spPr>
      </p:sp>
      <p:pic>
        <p:nvPicPr>
          <p:cNvPr id="16" name="Image 0" descr="Logo Easyfoot">    </p:cNvPr>
          <p:cNvPicPr>
            <a:picLocks noChangeAspect="1"/>
          </p:cNvPicPr>
          <p:nvPr/>
        </p:nvPicPr>
        <p:blipFill>
          <a:blip r:embed="rId1"/>
          <a:stretch>
            <a:fillRect/>
          </a:stretch>
        </p:blipFill>
        <p:spPr>
          <a:xfrm>
            <a:off x="5715000" y="2011680"/>
            <a:ext cx="1737360" cy="454457"/>
          </a:xfrm>
          <a:prstGeom prst="rect">
            <a:avLst/>
          </a:prstGeom>
        </p:spPr>
      </p:pic>
      <p:sp>
        <p:nvSpPr>
          <p:cNvPr id="17" name="Text 13"/>
          <p:cNvSpPr txBox="1"/>
          <p:nvPr/>
        </p:nvSpPr>
        <p:spPr>
          <a:xfrm>
            <a:off x="5715000" y="2743200"/>
            <a:ext cx="2103120" cy="822960"/>
          </a:xfrm>
          <a:prstGeom prst="rect">
            <a:avLst/>
          </a:prstGeom>
          <a:noFill/>
          <a:ln/>
        </p:spPr>
        <p:txBody>
          <a:bodyPr wrap="square" lIns="0" tIns="0" rIns="0" bIns="0" rtlCol="0" anchor="t"/>
          <a:lstStyle/>
          <a:p>
            <a:pPr indent="0" marL="0">
              <a:buNone/>
            </a:pPr>
            <a:r>
              <a:rPr lang="en-US" sz="1500" b="1" dirty="0">
                <a:solidFill>
                  <a:schemeClr val="tx1"/>
                </a:solidFill>
              </a:rPr>
              <a:t>Un seul référentiel,</a:t>
            </a:r>
            <a:endParaRPr lang="en-US" sz="1500" dirty="0"/>
          </a:p>
          <a:p>
            <a:pPr indent="0" marL="0">
              <a:buNone/>
            </a:pPr>
            <a:r>
              <a:rPr lang="en-US" sz="1500" b="1" dirty="0">
                <a:solidFill>
                  <a:schemeClr val="tx1"/>
                </a:solidFill>
              </a:rPr>
              <a:t>une API ouverte</a:t>
            </a:r>
            <a:endParaRPr lang="en-US" sz="1500" dirty="0"/>
          </a:p>
        </p:txBody>
      </p:sp>
      <p:sp>
        <p:nvSpPr>
          <p:cNvPr id="18" name="Étiquette"/>
          <p:cNvSpPr/>
          <p:nvPr/>
        </p:nvSpPr>
        <p:spPr>
          <a:xfrm>
            <a:off x="7955280" y="2103120"/>
            <a:ext cx="1719072" cy="457200"/>
          </a:xfrm>
          <a:prstGeom prst="roundRect">
            <a:avLst>
              <a:gd name="adj" fmla="val 30000"/>
            </a:avLst>
          </a:prstGeom>
          <a:solidFill>
            <a:schemeClr val="bg1"/>
          </a:solidFill>
          <a:ln w="9525">
            <a:solidFill>
              <a:schemeClr val="accent1"/>
            </a:solidFill>
          </a:ln>
        </p:spPr>
        <p:txBody>
          <a:bodyPr wrap="square" lIns="508" tIns="508" rIns="508" bIns="508" rtlCol="0" anchor="ctr"/>
          <a:lstStyle/>
          <a:p>
            <a:pPr algn="ctr" indent="0" marL="0">
              <a:buNone/>
            </a:pPr>
            <a:r>
              <a:rPr lang="en-US" sz="1200" b="1" dirty="0">
                <a:solidFill>
                  <a:schemeClr val="accent1"/>
                </a:solidFill>
              </a:rPr>
              <a:t>Coach</a:t>
            </a:r>
            <a:endParaRPr lang="en-US" sz="1200" dirty="0"/>
          </a:p>
        </p:txBody>
      </p:sp>
      <p:sp>
        <p:nvSpPr>
          <p:cNvPr id="19" name="Étiquette"/>
          <p:cNvSpPr/>
          <p:nvPr/>
        </p:nvSpPr>
        <p:spPr>
          <a:xfrm>
            <a:off x="9784080" y="2103120"/>
            <a:ext cx="1719072" cy="457200"/>
          </a:xfrm>
          <a:prstGeom prst="roundRect">
            <a:avLst>
              <a:gd name="adj" fmla="val 30000"/>
            </a:avLst>
          </a:prstGeom>
          <a:solidFill>
            <a:schemeClr val="bg1"/>
          </a:solidFill>
          <a:ln w="9525">
            <a:solidFill>
              <a:schemeClr val="accent1"/>
            </a:solidFill>
          </a:ln>
        </p:spPr>
        <p:txBody>
          <a:bodyPr wrap="square" lIns="508" tIns="508" rIns="508" bIns="508" rtlCol="0" anchor="ctr"/>
          <a:lstStyle/>
          <a:p>
            <a:pPr algn="ctr" indent="0" marL="0">
              <a:buNone/>
            </a:pPr>
            <a:r>
              <a:rPr lang="en-US" sz="1200" b="1" dirty="0">
                <a:solidFill>
                  <a:schemeClr val="accent1"/>
                </a:solidFill>
              </a:rPr>
              <a:t>Prépa physique</a:t>
            </a:r>
            <a:endParaRPr lang="en-US" sz="1200" dirty="0"/>
          </a:p>
        </p:txBody>
      </p:sp>
      <p:sp>
        <p:nvSpPr>
          <p:cNvPr id="20" name="Étiquette"/>
          <p:cNvSpPr/>
          <p:nvPr/>
        </p:nvSpPr>
        <p:spPr>
          <a:xfrm>
            <a:off x="7955280" y="2743200"/>
            <a:ext cx="1719072" cy="457200"/>
          </a:xfrm>
          <a:prstGeom prst="roundRect">
            <a:avLst>
              <a:gd name="adj" fmla="val 30000"/>
            </a:avLst>
          </a:prstGeom>
          <a:solidFill>
            <a:schemeClr val="bg1"/>
          </a:solidFill>
          <a:ln w="9525">
            <a:solidFill>
              <a:schemeClr val="accent1"/>
            </a:solidFill>
          </a:ln>
        </p:spPr>
        <p:txBody>
          <a:bodyPr wrap="square" lIns="508" tIns="508" rIns="508" bIns="508" rtlCol="0" anchor="ctr"/>
          <a:lstStyle/>
          <a:p>
            <a:pPr algn="ctr" indent="0" marL="0">
              <a:buNone/>
            </a:pPr>
            <a:r>
              <a:rPr lang="en-US" sz="1200" b="1" dirty="0">
                <a:solidFill>
                  <a:schemeClr val="accent1"/>
                </a:solidFill>
              </a:rPr>
              <a:t>Médical</a:t>
            </a:r>
            <a:endParaRPr lang="en-US" sz="1200" dirty="0"/>
          </a:p>
        </p:txBody>
      </p:sp>
      <p:sp>
        <p:nvSpPr>
          <p:cNvPr id="21" name="Étiquette"/>
          <p:cNvSpPr/>
          <p:nvPr/>
        </p:nvSpPr>
        <p:spPr>
          <a:xfrm>
            <a:off x="9784080" y="2743200"/>
            <a:ext cx="1719072" cy="457200"/>
          </a:xfrm>
          <a:prstGeom prst="roundRect">
            <a:avLst>
              <a:gd name="adj" fmla="val 30000"/>
            </a:avLst>
          </a:prstGeom>
          <a:solidFill>
            <a:schemeClr val="bg1"/>
          </a:solidFill>
          <a:ln w="9525">
            <a:solidFill>
              <a:schemeClr val="accent1"/>
            </a:solidFill>
          </a:ln>
        </p:spPr>
        <p:txBody>
          <a:bodyPr wrap="square" lIns="508" tIns="508" rIns="508" bIns="508" rtlCol="0" anchor="ctr"/>
          <a:lstStyle/>
          <a:p>
            <a:pPr algn="ctr" indent="0" marL="0">
              <a:buNone/>
            </a:pPr>
            <a:r>
              <a:rPr lang="en-US" sz="1200" b="1" dirty="0">
                <a:solidFill>
                  <a:schemeClr val="accent1"/>
                </a:solidFill>
              </a:rPr>
              <a:t>Recrutement</a:t>
            </a:r>
            <a:endParaRPr lang="en-US" sz="1200" dirty="0"/>
          </a:p>
        </p:txBody>
      </p:sp>
      <p:sp>
        <p:nvSpPr>
          <p:cNvPr id="22" name="Étiquette"/>
          <p:cNvSpPr/>
          <p:nvPr/>
        </p:nvSpPr>
        <p:spPr>
          <a:xfrm>
            <a:off x="7955280" y="3383280"/>
            <a:ext cx="1719072" cy="457200"/>
          </a:xfrm>
          <a:prstGeom prst="roundRect">
            <a:avLst>
              <a:gd name="adj" fmla="val 30000"/>
            </a:avLst>
          </a:prstGeom>
          <a:solidFill>
            <a:schemeClr val="bg1"/>
          </a:solidFill>
          <a:ln w="9525">
            <a:solidFill>
              <a:schemeClr val="accent1"/>
            </a:solidFill>
          </a:ln>
        </p:spPr>
        <p:txBody>
          <a:bodyPr wrap="square" lIns="508" tIns="508" rIns="508" bIns="508" rtlCol="0" anchor="ctr"/>
          <a:lstStyle/>
          <a:p>
            <a:pPr algn="ctr" indent="0" marL="0">
              <a:buNone/>
            </a:pPr>
            <a:r>
              <a:rPr lang="en-US" sz="1200" b="1" dirty="0">
                <a:solidFill>
                  <a:schemeClr val="accent1"/>
                </a:solidFill>
              </a:rPr>
              <a:t>Formation</a:t>
            </a:r>
            <a:endParaRPr lang="en-US" sz="1200" dirty="0"/>
          </a:p>
        </p:txBody>
      </p:sp>
      <p:sp>
        <p:nvSpPr>
          <p:cNvPr id="23" name="Étiquette"/>
          <p:cNvSpPr/>
          <p:nvPr/>
        </p:nvSpPr>
        <p:spPr>
          <a:xfrm>
            <a:off x="9784080" y="3383280"/>
            <a:ext cx="1719072" cy="457200"/>
          </a:xfrm>
          <a:prstGeom prst="roundRect">
            <a:avLst>
              <a:gd name="adj" fmla="val 30000"/>
            </a:avLst>
          </a:prstGeom>
          <a:solidFill>
            <a:schemeClr val="bg1"/>
          </a:solidFill>
          <a:ln w="9525">
            <a:solidFill>
              <a:schemeClr val="accent1"/>
            </a:solidFill>
          </a:ln>
        </p:spPr>
        <p:txBody>
          <a:bodyPr wrap="square" lIns="508" tIns="508" rIns="508" bIns="508" rtlCol="0" anchor="ctr"/>
          <a:lstStyle/>
          <a:p>
            <a:pPr algn="ctr" indent="0" marL="0">
              <a:buNone/>
            </a:pPr>
            <a:r>
              <a:rPr lang="en-US" sz="1200" b="1" dirty="0">
                <a:solidFill>
                  <a:schemeClr val="accent1"/>
                </a:solidFill>
              </a:rPr>
              <a:t>Joueurs</a:t>
            </a:r>
            <a:endParaRPr lang="en-US" sz="1200" dirty="0"/>
          </a:p>
        </p:txBody>
      </p:sp>
      <p:sp>
        <p:nvSpPr>
          <p:cNvPr id="24" name="Pastille icône"/>
          <p:cNvSpPr/>
          <p:nvPr/>
        </p:nvSpPr>
        <p:spPr>
          <a:xfrm>
            <a:off x="548640" y="4572000"/>
            <a:ext cx="502920" cy="502920"/>
          </a:xfrm>
          <a:prstGeom prst="ellipse">
            <a:avLst/>
          </a:prstGeom>
          <a:solidFill>
            <a:schemeClr val="accent2"/>
          </a:solidFill>
          <a:ln/>
        </p:spPr>
      </p:sp>
      <p:pic>
        <p:nvPicPr>
          <p:cNvPr id="25" name="Image 1" descr="layers">    </p:cNvPr>
          <p:cNvPicPr>
            <a:picLocks noChangeAspect="1"/>
          </p:cNvPicPr>
          <p:nvPr/>
        </p:nvPicPr>
        <p:blipFill>
          <a:blip r:embed="rId2"/>
          <a:stretch>
            <a:fillRect/>
          </a:stretch>
        </p:blipFill>
        <p:spPr>
          <a:xfrm>
            <a:off x="674370" y="4697730"/>
            <a:ext cx="251460" cy="251460"/>
          </a:xfrm>
          <a:prstGeom prst="rect">
            <a:avLst/>
          </a:prstGeom>
        </p:spPr>
      </p:pic>
      <p:sp>
        <p:nvSpPr>
          <p:cNvPr id="26" name="Text 21"/>
          <p:cNvSpPr txBox="1"/>
          <p:nvPr/>
        </p:nvSpPr>
        <p:spPr>
          <a:xfrm>
            <a:off x="1234440" y="4590288"/>
            <a:ext cx="2834640" cy="502920"/>
          </a:xfrm>
          <a:prstGeom prst="rect">
            <a:avLst/>
          </a:prstGeom>
          <a:noFill/>
          <a:ln/>
        </p:spPr>
        <p:txBody>
          <a:bodyPr wrap="square" lIns="0" tIns="0" rIns="0" bIns="0" rtlCol="0" anchor="ctr"/>
          <a:lstStyle/>
          <a:p>
            <a:pPr indent="0" marL="0">
              <a:buNone/>
            </a:pPr>
            <a:r>
              <a:rPr lang="en-US" sz="1600" b="1" dirty="0">
                <a:solidFill>
                  <a:schemeClr val="tx1"/>
                </a:solidFill>
              </a:rPr>
              <a:t>Mutualiser les outils techniques</a:t>
            </a:r>
            <a:endParaRPr lang="en-US" sz="1600" dirty="0"/>
          </a:p>
        </p:txBody>
      </p:sp>
      <p:sp>
        <p:nvSpPr>
          <p:cNvPr id="27" name="Text 22"/>
          <p:cNvSpPr txBox="1"/>
          <p:nvPr/>
        </p:nvSpPr>
        <p:spPr>
          <a:xfrm>
            <a:off x="548640" y="5257800"/>
            <a:ext cx="3474720" cy="868680"/>
          </a:xfrm>
          <a:prstGeom prst="rect">
            <a:avLst/>
          </a:prstGeom>
          <a:noFill/>
          <a:ln/>
        </p:spPr>
        <p:txBody>
          <a:bodyPr wrap="square" lIns="0" tIns="0" rIns="0" bIns="0" rtlCol="0" anchor="t"/>
          <a:lstStyle/>
          <a:p>
            <a:pPr indent="0" marL="0">
              <a:buNone/>
            </a:pPr>
            <a:r>
              <a:rPr lang="en-US" sz="1400" dirty="0">
                <a:solidFill>
                  <a:schemeClr val="tx2"/>
                </a:solidFill>
              </a:rPr>
              <a:t>GPS, médical, scouting, vidéo : un seul référentiel au lieu d'outils isolés.</a:t>
            </a:r>
            <a:endParaRPr lang="en-US" sz="1400" dirty="0"/>
          </a:p>
        </p:txBody>
      </p:sp>
      <p:sp>
        <p:nvSpPr>
          <p:cNvPr id="28" name="Pastille icône"/>
          <p:cNvSpPr/>
          <p:nvPr/>
        </p:nvSpPr>
        <p:spPr>
          <a:xfrm>
            <a:off x="4297680" y="4572000"/>
            <a:ext cx="502920" cy="502920"/>
          </a:xfrm>
          <a:prstGeom prst="ellipse">
            <a:avLst/>
          </a:prstGeom>
          <a:solidFill>
            <a:schemeClr val="accent2"/>
          </a:solidFill>
          <a:ln/>
        </p:spPr>
      </p:sp>
      <p:pic>
        <p:nvPicPr>
          <p:cNvPr id="29" name="Image 2" descr="message">    </p:cNvPr>
          <p:cNvPicPr>
            <a:picLocks noChangeAspect="1"/>
          </p:cNvPicPr>
          <p:nvPr/>
        </p:nvPicPr>
        <p:blipFill>
          <a:blip r:embed="rId3"/>
          <a:stretch>
            <a:fillRect/>
          </a:stretch>
        </p:blipFill>
        <p:spPr>
          <a:xfrm>
            <a:off x="4423410" y="4697730"/>
            <a:ext cx="251460" cy="251460"/>
          </a:xfrm>
          <a:prstGeom prst="rect">
            <a:avLst/>
          </a:prstGeom>
        </p:spPr>
      </p:pic>
      <p:sp>
        <p:nvSpPr>
          <p:cNvPr id="30" name="Text 24"/>
          <p:cNvSpPr txBox="1"/>
          <p:nvPr/>
        </p:nvSpPr>
        <p:spPr>
          <a:xfrm>
            <a:off x="4983480" y="4590288"/>
            <a:ext cx="2834640" cy="502920"/>
          </a:xfrm>
          <a:prstGeom prst="rect">
            <a:avLst/>
          </a:prstGeom>
          <a:noFill/>
          <a:ln/>
        </p:spPr>
        <p:txBody>
          <a:bodyPr wrap="square" lIns="0" tIns="0" rIns="0" bIns="0" rtlCol="0" anchor="ctr"/>
          <a:lstStyle/>
          <a:p>
            <a:pPr indent="0" marL="0">
              <a:buNone/>
            </a:pPr>
            <a:r>
              <a:rPr lang="en-US" sz="1600" b="1" dirty="0">
                <a:solidFill>
                  <a:schemeClr val="tx1"/>
                </a:solidFill>
              </a:rPr>
              <a:t>Parler le même langage</a:t>
            </a:r>
            <a:endParaRPr lang="en-US" sz="1600" dirty="0"/>
          </a:p>
        </p:txBody>
      </p:sp>
      <p:sp>
        <p:nvSpPr>
          <p:cNvPr id="31" name="Text 25"/>
          <p:cNvSpPr txBox="1"/>
          <p:nvPr/>
        </p:nvSpPr>
        <p:spPr>
          <a:xfrm>
            <a:off x="4297680" y="5257800"/>
            <a:ext cx="3474720" cy="868680"/>
          </a:xfrm>
          <a:prstGeom prst="rect">
            <a:avLst/>
          </a:prstGeom>
          <a:noFill/>
          <a:ln/>
        </p:spPr>
        <p:txBody>
          <a:bodyPr wrap="square" lIns="0" tIns="0" rIns="0" bIns="0" rtlCol="0" anchor="t"/>
          <a:lstStyle/>
          <a:p>
            <a:pPr indent="0" marL="0">
              <a:buNone/>
            </a:pPr>
            <a:r>
              <a:rPr lang="en-US" sz="1400" dirty="0">
                <a:solidFill>
                  <a:schemeClr val="tx2"/>
                </a:solidFill>
              </a:rPr>
              <a:t>Mêmes indicateurs et mêmes alertes pour le coach, la prépa, le médical et le recrutement.</a:t>
            </a:r>
            <a:endParaRPr lang="en-US" sz="1400" dirty="0"/>
          </a:p>
        </p:txBody>
      </p:sp>
      <p:sp>
        <p:nvSpPr>
          <p:cNvPr id="32" name="Pastille icône"/>
          <p:cNvSpPr/>
          <p:nvPr/>
        </p:nvSpPr>
        <p:spPr>
          <a:xfrm>
            <a:off x="8046720" y="4572000"/>
            <a:ext cx="502920" cy="502920"/>
          </a:xfrm>
          <a:prstGeom prst="ellipse">
            <a:avLst/>
          </a:prstGeom>
          <a:solidFill>
            <a:schemeClr val="accent2"/>
          </a:solidFill>
          <a:ln/>
        </p:spPr>
      </p:sp>
      <p:pic>
        <p:nvPicPr>
          <p:cNvPr id="33" name="Image 3" descr="check">    </p:cNvPr>
          <p:cNvPicPr>
            <a:picLocks noChangeAspect="1"/>
          </p:cNvPicPr>
          <p:nvPr/>
        </p:nvPicPr>
        <p:blipFill>
          <a:blip r:embed="rId4"/>
          <a:stretch>
            <a:fillRect/>
          </a:stretch>
        </p:blipFill>
        <p:spPr>
          <a:xfrm>
            <a:off x="8172450" y="4697730"/>
            <a:ext cx="251460" cy="251460"/>
          </a:xfrm>
          <a:prstGeom prst="rect">
            <a:avLst/>
          </a:prstGeom>
        </p:spPr>
      </p:pic>
      <p:sp>
        <p:nvSpPr>
          <p:cNvPr id="34" name="Text 27"/>
          <p:cNvSpPr txBox="1"/>
          <p:nvPr/>
        </p:nvSpPr>
        <p:spPr>
          <a:xfrm>
            <a:off x="8732520" y="4590288"/>
            <a:ext cx="2834640" cy="502920"/>
          </a:xfrm>
          <a:prstGeom prst="rect">
            <a:avLst/>
          </a:prstGeom>
          <a:noFill/>
          <a:ln/>
        </p:spPr>
        <p:txBody>
          <a:bodyPr wrap="square" lIns="0" tIns="0" rIns="0" bIns="0" rtlCol="0" anchor="ctr"/>
          <a:lstStyle/>
          <a:p>
            <a:pPr indent="0" marL="0">
              <a:buNone/>
            </a:pPr>
            <a:r>
              <a:rPr lang="en-US" sz="1600" b="1" dirty="0">
                <a:solidFill>
                  <a:schemeClr val="tx1"/>
                </a:solidFill>
              </a:rPr>
              <a:t>Une plus-value concrète</a:t>
            </a:r>
            <a:endParaRPr lang="en-US" sz="1600" dirty="0"/>
          </a:p>
        </p:txBody>
      </p:sp>
      <p:sp>
        <p:nvSpPr>
          <p:cNvPr id="35" name="Text 28"/>
          <p:cNvSpPr txBox="1"/>
          <p:nvPr/>
        </p:nvSpPr>
        <p:spPr>
          <a:xfrm>
            <a:off x="8046720" y="5257800"/>
            <a:ext cx="3474720" cy="868680"/>
          </a:xfrm>
          <a:prstGeom prst="rect">
            <a:avLst/>
          </a:prstGeom>
          <a:noFill/>
          <a:ln/>
        </p:spPr>
        <p:txBody>
          <a:bodyPr wrap="square" lIns="0" tIns="0" rIns="0" bIns="0" rtlCol="0" anchor="t"/>
          <a:lstStyle/>
          <a:p>
            <a:pPr indent="0" marL="0">
              <a:buNone/>
            </a:pPr>
            <a:r>
              <a:rPr lang="en-US" sz="1400" dirty="0">
                <a:solidFill>
                  <a:schemeClr val="tx2"/>
                </a:solidFill>
              </a:rPr>
              <a:t>Moins de ressaisies, des décisions expliquées, des joueurs impliqués dans leur suivi.</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64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731520" y="1828800"/>
            <a:ext cx="5669280" cy="2194560"/>
          </a:xfrm>
          <a:prstGeom prst="rect">
            <a:avLst/>
          </a:prstGeom>
          <a:noFill/>
          <a:ln/>
        </p:spPr>
        <p:txBody>
          <a:bodyPr wrap="square" lIns="0" tIns="0" rIns="0" bIns="0" rtlCol="0" anchor="t"/>
          <a:lstStyle/>
          <a:p>
            <a:pPr algn="l" indent="0" marL="0">
              <a:buNone/>
            </a:pPr>
            <a:r>
              <a:rPr lang="en-US" sz="4600" b="1" dirty="0">
                <a:solidFill>
                  <a:schemeClr val="bg1"/>
                </a:solidFill>
              </a:rPr>
              <a:t>Prêts à passer à la vitesse supérieure ?</a:t>
            </a:r>
            <a:endParaRPr lang="en-US" sz="4600" dirty="0"/>
          </a:p>
        </p:txBody>
      </p:sp>
      <p:sp>
        <p:nvSpPr>
          <p:cNvPr id="3" name="Text 1"/>
          <p:cNvSpPr/>
          <p:nvPr>
            <p:ph idx="103" type="body" hasCustomPrompt="1"/>
          </p:nvPr>
        </p:nvSpPr>
        <p:spPr>
          <a:xfrm>
            <a:off x="731520" y="4160520"/>
            <a:ext cx="5486400" cy="914400"/>
          </a:xfrm>
          <a:prstGeom prst="rect">
            <a:avLst/>
          </a:prstGeom>
          <a:noFill/>
          <a:ln/>
        </p:spPr>
        <p:txBody>
          <a:bodyPr wrap="square" lIns="0" tIns="0" rIns="0" bIns="0" rtlCol="0" anchor="t"/>
          <a:lstStyle/>
          <a:p>
            <a:pPr algn="l" indent="0" marL="0">
              <a:buNone/>
            </a:pPr>
            <a:r>
              <a:rPr lang="en-US" sz="2000" dirty="0">
                <a:solidFill>
                  <a:schemeClr val="bg1"/>
                </a:solidFill>
              </a:rPr>
              <a:t>Merci. Place à vos questions.</a:t>
            </a:r>
            <a:endParaRPr lang="en-US" sz="2000" dirty="0"/>
          </a:p>
        </p:txBody>
      </p:sp>
      <p:sp>
        <p:nvSpPr>
          <p:cNvPr id="4" name="Carte"/>
          <p:cNvSpPr/>
          <p:nvPr/>
        </p:nvSpPr>
        <p:spPr>
          <a:xfrm>
            <a:off x="6949440" y="1097280"/>
            <a:ext cx="4690872" cy="1371600"/>
          </a:xfrm>
          <a:prstGeom prst="roundRect">
            <a:avLst>
              <a:gd name="adj" fmla="val 6667"/>
            </a:avLst>
          </a:prstGeom>
          <a:solidFill>
            <a:schemeClr val="bg1"/>
          </a:solidFill>
          <a:ln w="9525">
            <a:solidFill>
              <a:schemeClr val="bg1"/>
            </a:solidFill>
            <a:prstDash val="solid"/>
          </a:ln>
        </p:spPr>
      </p:sp>
      <p:sp>
        <p:nvSpPr>
          <p:cNvPr id="5" name="Pastille numéro"/>
          <p:cNvSpPr/>
          <p:nvPr/>
        </p:nvSpPr>
        <p:spPr>
          <a:xfrm>
            <a:off x="7223760" y="1463040"/>
            <a:ext cx="640080" cy="640080"/>
          </a:xfrm>
          <a:prstGeom prst="ellipse">
            <a:avLst/>
          </a:prstGeom>
          <a:solidFill>
            <a:schemeClr val="accent1"/>
          </a:solidFill>
          <a:ln/>
        </p:spPr>
      </p:sp>
      <p:sp>
        <p:nvSpPr>
          <p:cNvPr id="6" name="Text 4"/>
          <p:cNvSpPr txBox="1"/>
          <p:nvPr/>
        </p:nvSpPr>
        <p:spPr>
          <a:xfrm>
            <a:off x="7223760" y="14630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7" name="Text 5"/>
          <p:cNvSpPr txBox="1"/>
          <p:nvPr/>
        </p:nvSpPr>
        <p:spPr>
          <a:xfrm>
            <a:off x="8092440" y="1371600"/>
            <a:ext cx="3383280" cy="365760"/>
          </a:xfrm>
          <a:prstGeom prst="rect">
            <a:avLst/>
          </a:prstGeom>
          <a:noFill/>
          <a:ln/>
        </p:spPr>
        <p:txBody>
          <a:bodyPr wrap="square" lIns="0" tIns="0" rIns="0" bIns="0" rtlCol="0" anchor="t"/>
          <a:lstStyle/>
          <a:p>
            <a:pPr indent="0" marL="0">
              <a:buNone/>
            </a:pPr>
            <a:r>
              <a:rPr lang="en-US" sz="1800" b="1" dirty="0">
                <a:solidFill>
                  <a:schemeClr val="tx1"/>
                </a:solidFill>
              </a:rPr>
              <a:t>Brancher vos sources</a:t>
            </a:r>
            <a:endParaRPr lang="en-US" sz="1800" dirty="0"/>
          </a:p>
        </p:txBody>
      </p:sp>
      <p:sp>
        <p:nvSpPr>
          <p:cNvPr id="8" name="Text 6"/>
          <p:cNvSpPr txBox="1"/>
          <p:nvPr/>
        </p:nvSpPr>
        <p:spPr>
          <a:xfrm>
            <a:off x="8092440" y="1783080"/>
            <a:ext cx="3383280" cy="548640"/>
          </a:xfrm>
          <a:prstGeom prst="rect">
            <a:avLst/>
          </a:prstGeom>
          <a:noFill/>
          <a:ln/>
        </p:spPr>
        <p:txBody>
          <a:bodyPr wrap="square" lIns="0" tIns="0" rIns="0" bIns="0" rtlCol="0" anchor="t"/>
          <a:lstStyle/>
          <a:p>
            <a:pPr indent="0" marL="0">
              <a:buNone/>
            </a:pPr>
            <a:r>
              <a:rPr lang="en-US" sz="1400" dirty="0">
                <a:solidFill>
                  <a:schemeClr val="tx2"/>
                </a:solidFill>
              </a:rPr>
              <a:t>GPS, suivi médical, matchs : vos données à la place de la démo.</a:t>
            </a:r>
            <a:endParaRPr lang="en-US" sz="1400" dirty="0"/>
          </a:p>
        </p:txBody>
      </p:sp>
      <p:sp>
        <p:nvSpPr>
          <p:cNvPr id="9" name="Carte"/>
          <p:cNvSpPr/>
          <p:nvPr/>
        </p:nvSpPr>
        <p:spPr>
          <a:xfrm>
            <a:off x="6949440" y="2697480"/>
            <a:ext cx="4690872" cy="1371600"/>
          </a:xfrm>
          <a:prstGeom prst="roundRect">
            <a:avLst>
              <a:gd name="adj" fmla="val 6667"/>
            </a:avLst>
          </a:prstGeom>
          <a:solidFill>
            <a:schemeClr val="bg1"/>
          </a:solidFill>
          <a:ln w="9525">
            <a:solidFill>
              <a:schemeClr val="bg1"/>
            </a:solidFill>
            <a:prstDash val="solid"/>
          </a:ln>
        </p:spPr>
      </p:sp>
      <p:sp>
        <p:nvSpPr>
          <p:cNvPr id="10" name="Pastille numéro"/>
          <p:cNvSpPr/>
          <p:nvPr/>
        </p:nvSpPr>
        <p:spPr>
          <a:xfrm>
            <a:off x="7223760" y="3063240"/>
            <a:ext cx="640080" cy="640080"/>
          </a:xfrm>
          <a:prstGeom prst="ellipse">
            <a:avLst/>
          </a:prstGeom>
          <a:solidFill>
            <a:schemeClr val="accent1"/>
          </a:solidFill>
          <a:ln/>
        </p:spPr>
      </p:sp>
      <p:sp>
        <p:nvSpPr>
          <p:cNvPr id="11" name="Text 9"/>
          <p:cNvSpPr txBox="1"/>
          <p:nvPr/>
        </p:nvSpPr>
        <p:spPr>
          <a:xfrm>
            <a:off x="7223760" y="30632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Text 10"/>
          <p:cNvSpPr txBox="1"/>
          <p:nvPr/>
        </p:nvSpPr>
        <p:spPr>
          <a:xfrm>
            <a:off x="8092440" y="2971800"/>
            <a:ext cx="3383280" cy="365760"/>
          </a:xfrm>
          <a:prstGeom prst="rect">
            <a:avLst/>
          </a:prstGeom>
          <a:noFill/>
          <a:ln/>
        </p:spPr>
        <p:txBody>
          <a:bodyPr wrap="square" lIns="0" tIns="0" rIns="0" bIns="0" rtlCol="0" anchor="t"/>
          <a:lstStyle/>
          <a:p>
            <a:pPr indent="0" marL="0">
              <a:buNone/>
            </a:pPr>
            <a:r>
              <a:rPr lang="en-US" sz="1800" b="1" dirty="0">
                <a:solidFill>
                  <a:schemeClr val="tx1"/>
                </a:solidFill>
              </a:rPr>
              <a:t>Lancer un pilote</a:t>
            </a:r>
            <a:endParaRPr lang="en-US" sz="1800" dirty="0"/>
          </a:p>
        </p:txBody>
      </p:sp>
      <p:sp>
        <p:nvSpPr>
          <p:cNvPr id="13" name="Text 11"/>
          <p:cNvSpPr txBox="1"/>
          <p:nvPr/>
        </p:nvSpPr>
        <p:spPr>
          <a:xfrm>
            <a:off x="8092440" y="3383280"/>
            <a:ext cx="3383280" cy="548640"/>
          </a:xfrm>
          <a:prstGeom prst="rect">
            <a:avLst/>
          </a:prstGeom>
          <a:noFill/>
          <a:ln/>
        </p:spPr>
        <p:txBody>
          <a:bodyPr wrap="square" lIns="0" tIns="0" rIns="0" bIns="0" rtlCol="0" anchor="t"/>
          <a:lstStyle/>
          <a:p>
            <a:pPr indent="0" marL="0">
              <a:buNone/>
            </a:pPr>
            <a:r>
              <a:rPr lang="en-US" sz="1400" dirty="0">
                <a:solidFill>
                  <a:schemeClr val="tx2"/>
                </a:solidFill>
              </a:rPr>
              <a:t>Avec le staff, sur un groupe de joueurs, pour mesurer la valeur.</a:t>
            </a:r>
            <a:endParaRPr lang="en-US" sz="1400" dirty="0"/>
          </a:p>
        </p:txBody>
      </p:sp>
      <p:sp>
        <p:nvSpPr>
          <p:cNvPr id="14" name="Carte"/>
          <p:cNvSpPr/>
          <p:nvPr/>
        </p:nvSpPr>
        <p:spPr>
          <a:xfrm>
            <a:off x="6949440" y="4297680"/>
            <a:ext cx="4690872" cy="1371600"/>
          </a:xfrm>
          <a:prstGeom prst="roundRect">
            <a:avLst>
              <a:gd name="adj" fmla="val 6667"/>
            </a:avLst>
          </a:prstGeom>
          <a:solidFill>
            <a:schemeClr val="bg1"/>
          </a:solidFill>
          <a:ln w="9525">
            <a:solidFill>
              <a:schemeClr val="bg1"/>
            </a:solidFill>
            <a:prstDash val="solid"/>
          </a:ln>
        </p:spPr>
      </p:sp>
      <p:sp>
        <p:nvSpPr>
          <p:cNvPr id="15" name="Pastille numéro"/>
          <p:cNvSpPr/>
          <p:nvPr/>
        </p:nvSpPr>
        <p:spPr>
          <a:xfrm>
            <a:off x="7223760" y="4663440"/>
            <a:ext cx="640080" cy="640080"/>
          </a:xfrm>
          <a:prstGeom prst="ellipse">
            <a:avLst/>
          </a:prstGeom>
          <a:solidFill>
            <a:schemeClr val="accent1"/>
          </a:solidFill>
          <a:ln/>
        </p:spPr>
      </p:sp>
      <p:sp>
        <p:nvSpPr>
          <p:cNvPr id="16" name="Text 14"/>
          <p:cNvSpPr txBox="1"/>
          <p:nvPr/>
        </p:nvSpPr>
        <p:spPr>
          <a:xfrm>
            <a:off x="7223760" y="46634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7" name="Text 15"/>
          <p:cNvSpPr txBox="1"/>
          <p:nvPr/>
        </p:nvSpPr>
        <p:spPr>
          <a:xfrm>
            <a:off x="8092440" y="4572000"/>
            <a:ext cx="3383280" cy="365760"/>
          </a:xfrm>
          <a:prstGeom prst="rect">
            <a:avLst/>
          </a:prstGeom>
          <a:noFill/>
          <a:ln/>
        </p:spPr>
        <p:txBody>
          <a:bodyPr wrap="square" lIns="0" tIns="0" rIns="0" bIns="0" rtlCol="0" anchor="t"/>
          <a:lstStyle/>
          <a:p>
            <a:pPr indent="0" marL="0">
              <a:buNone/>
            </a:pPr>
            <a:r>
              <a:rPr lang="en-US" sz="1800" b="1" dirty="0">
                <a:solidFill>
                  <a:schemeClr val="tx1"/>
                </a:solidFill>
              </a:rPr>
              <a:t>Ouvrir l'espace joueur</a:t>
            </a:r>
            <a:endParaRPr lang="en-US" sz="1800" dirty="0"/>
          </a:p>
        </p:txBody>
      </p:sp>
      <p:sp>
        <p:nvSpPr>
          <p:cNvPr id="18" name="Text 16"/>
          <p:cNvSpPr txBox="1"/>
          <p:nvPr/>
        </p:nvSpPr>
        <p:spPr>
          <a:xfrm>
            <a:off x="8092440" y="4983480"/>
            <a:ext cx="3383280" cy="548640"/>
          </a:xfrm>
          <a:prstGeom prst="rect">
            <a:avLst/>
          </a:prstGeom>
          <a:noFill/>
          <a:ln/>
        </p:spPr>
        <p:txBody>
          <a:bodyPr wrap="square" lIns="0" tIns="0" rIns="0" bIns="0" rtlCol="0" anchor="t"/>
          <a:lstStyle/>
          <a:p>
            <a:pPr indent="0" marL="0">
              <a:buNone/>
            </a:pPr>
            <a:r>
              <a:rPr lang="en-US" sz="1400" dirty="0">
                <a:solidFill>
                  <a:schemeClr val="tx2"/>
                </a:solidFill>
              </a:rPr>
              <a:t>Bilans quotidiens et objectifs individuels pour tout l'effectif.</a:t>
            </a:r>
            <a:endParaRPr lang="en-US" sz="1400" dirty="0"/>
          </a:p>
        </p:txBody>
      </p:sp>
      <p:sp>
        <p:nvSpPr>
          <p:cNvPr id="19" name="Text 17"/>
          <p:cNvSpPr txBox="1"/>
          <p:nvPr/>
        </p:nvSpPr>
        <p:spPr>
          <a:xfrm>
            <a:off x="731520" y="6263640"/>
            <a:ext cx="7315200" cy="274320"/>
          </a:xfrm>
          <a:prstGeom prst="rect">
            <a:avLst/>
          </a:prstGeom>
          <a:noFill/>
          <a:ln/>
        </p:spPr>
        <p:txBody>
          <a:bodyPr wrap="square" lIns="0" tIns="0" rIns="0" bIns="0" rtlCol="0" anchor="t"/>
          <a:lstStyle/>
          <a:p>
            <a:pPr indent="0" marL="0">
              <a:buNone/>
            </a:pPr>
            <a:r>
              <a:rPr lang="en-US" sz="1100" dirty="0">
                <a:solidFill>
                  <a:schemeClr val="bg1"/>
                </a:solidFill>
              </a:rPr>
              <a:t>Démonstration : notes FC 27 importées ; santé, GPS et matchs simulés.</a:t>
            </a:r>
            <a:endParaRPr lang="en-US" sz="1100" dirty="0"/>
          </a:p>
        </p:txBody>
      </p:sp>
    </p:spTree>
  </p:cSld>
  <p:clrMapOvr>
    <a:masterClrMapping/>
  </p:clrMapOvr>
</p:sld>
</file>

<file path=ppt/theme/theme1.xml><?xml version="1.0" encoding="utf-8"?>
<a:theme xmlns:a="http://schemas.openxmlformats.org/drawingml/2006/main" name="Easyfoot DFCO">
  <a:themeElements>
    <a:clrScheme name="Easyfoot DFCO">
      <a:dk1>
        <a:srgbClr val="1C2024"/>
      </a:dk1>
      <a:lt1>
        <a:srgbClr val="FFFFFF"/>
      </a:lt1>
      <a:dk2>
        <a:srgbClr val="60646C"/>
      </a:dk2>
      <a:lt2>
        <a:srgbClr val="F9F9FB"/>
      </a:lt2>
      <a:accent1>
        <a:srgbClr val="D40125"/>
      </a:accent1>
      <a:accent2>
        <a:srgbClr val="FFEBE9"/>
      </a:accent2>
      <a:accent3>
        <a:srgbClr val="46A758"/>
      </a:accent3>
      <a:accent4>
        <a:srgbClr val="FFB224"/>
      </a:accent4>
      <a:accent5>
        <a:srgbClr val="0090FF"/>
      </a:accent5>
      <a:accent6>
        <a:srgbClr val="D9D9E0"/>
      </a:accent6>
      <a:hlink>
        <a:srgbClr val="B0041E"/>
      </a:hlink>
      <a:folHlink>
        <a:srgbClr val="60646C"/>
      </a:folHlink>
    </a:clrScheme>
    <a:fontScheme name="Easyfoot DFC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Easyfoot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Easyfoot — présentation DFCO</dc:title>
  <dc:subject>PptxGenJS Presentation</dc:subject>
  <dc:creator>Équipe Easyfoot</dc:creator>
  <cp:lastModifiedBy>Équipe Easyfoot</cp:lastModifiedBy>
  <cp:revision>1</cp:revision>
  <dcterms:created xsi:type="dcterms:W3CDTF">2026-10-08T14:56:37Z</dcterms:created>
  <dcterms:modified xsi:type="dcterms:W3CDTF">2026-10-08T14:56:37Z</dcterms:modified>
</cp:coreProperties>
</file>